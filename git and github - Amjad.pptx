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3A6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950"/>
    <p:restoredTop sz="80708"/>
  </p:normalViewPr>
  <p:slideViewPr>
    <p:cSldViewPr snapToGrid="0">
      <p:cViewPr varScale="1">
        <p:scale>
          <a:sx n="115" d="100"/>
          <a:sy n="115" d="100"/>
        </p:scale>
        <p:origin x="188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FB85D5-38E6-844E-9663-4F1514B18DCF}" type="datetimeFigureOut">
              <a:rPr lang="en-PS" smtClean="0"/>
              <a:t>13/09/2026</a:t>
            </a:fld>
            <a:endParaRPr lang="en-P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BD429AC-7C8D-7946-8056-5321CEB5E6E5}" type="slidenum">
              <a:rPr lang="en-PS" smtClean="0"/>
              <a:t>‹#›</a:t>
            </a:fld>
            <a:endParaRPr lang="en-PS"/>
          </a:p>
        </p:txBody>
      </p:sp>
    </p:spTree>
    <p:extLst>
      <p:ext uri="{BB962C8B-B14F-4D97-AF65-F5344CB8AC3E}">
        <p14:creationId xmlns:p14="http://schemas.microsoft.com/office/powerpoint/2010/main" val="30065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7d8b7104ca_0_153:notes"/>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7d8b7104ca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2</a:t>
            </a:fld>
            <a:endParaRPr lang="en-PS"/>
          </a:p>
        </p:txBody>
      </p:sp>
    </p:spTree>
    <p:extLst>
      <p:ext uri="{BB962C8B-B14F-4D97-AF65-F5344CB8AC3E}">
        <p14:creationId xmlns:p14="http://schemas.microsoft.com/office/powerpoint/2010/main" val="27875199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3</a:t>
            </a:fld>
            <a:endParaRPr lang="en-PS"/>
          </a:p>
        </p:txBody>
      </p:sp>
    </p:spTree>
    <p:extLst>
      <p:ext uri="{BB962C8B-B14F-4D97-AF65-F5344CB8AC3E}">
        <p14:creationId xmlns:p14="http://schemas.microsoft.com/office/powerpoint/2010/main" val="4258632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dirty="0"/>
            </a:b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4</a:t>
            </a:fld>
            <a:endParaRPr lang="en-PS"/>
          </a:p>
        </p:txBody>
      </p:sp>
    </p:spTree>
    <p:extLst>
      <p:ext uri="{BB962C8B-B14F-4D97-AF65-F5344CB8AC3E}">
        <p14:creationId xmlns:p14="http://schemas.microsoft.com/office/powerpoint/2010/main" val="21053265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5</a:t>
            </a:fld>
            <a:endParaRPr lang="en-PS"/>
          </a:p>
        </p:txBody>
      </p:sp>
    </p:spTree>
    <p:extLst>
      <p:ext uri="{BB962C8B-B14F-4D97-AF65-F5344CB8AC3E}">
        <p14:creationId xmlns:p14="http://schemas.microsoft.com/office/powerpoint/2010/main" val="12012105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6</a:t>
            </a:fld>
            <a:endParaRPr lang="en-PS"/>
          </a:p>
        </p:txBody>
      </p:sp>
    </p:spTree>
    <p:extLst>
      <p:ext uri="{BB962C8B-B14F-4D97-AF65-F5344CB8AC3E}">
        <p14:creationId xmlns:p14="http://schemas.microsoft.com/office/powerpoint/2010/main" val="3423948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7</a:t>
            </a:fld>
            <a:endParaRPr lang="en-PS"/>
          </a:p>
        </p:txBody>
      </p:sp>
    </p:spTree>
    <p:extLst>
      <p:ext uri="{BB962C8B-B14F-4D97-AF65-F5344CB8AC3E}">
        <p14:creationId xmlns:p14="http://schemas.microsoft.com/office/powerpoint/2010/main" val="19337847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8</a:t>
            </a:fld>
            <a:endParaRPr lang="en-PS"/>
          </a:p>
        </p:txBody>
      </p:sp>
    </p:spTree>
    <p:extLst>
      <p:ext uri="{BB962C8B-B14F-4D97-AF65-F5344CB8AC3E}">
        <p14:creationId xmlns:p14="http://schemas.microsoft.com/office/powerpoint/2010/main" val="2850643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9</a:t>
            </a:fld>
            <a:endParaRPr lang="en-PS"/>
          </a:p>
        </p:txBody>
      </p:sp>
    </p:spTree>
    <p:extLst>
      <p:ext uri="{BB962C8B-B14F-4D97-AF65-F5344CB8AC3E}">
        <p14:creationId xmlns:p14="http://schemas.microsoft.com/office/powerpoint/2010/main" val="5127004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10</a:t>
            </a:fld>
            <a:endParaRPr lang="en-PS"/>
          </a:p>
        </p:txBody>
      </p:sp>
    </p:spTree>
    <p:extLst>
      <p:ext uri="{BB962C8B-B14F-4D97-AF65-F5344CB8AC3E}">
        <p14:creationId xmlns:p14="http://schemas.microsoft.com/office/powerpoint/2010/main" val="13567525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11</a:t>
            </a:fld>
            <a:endParaRPr lang="en-PS"/>
          </a:p>
        </p:txBody>
      </p:sp>
    </p:spTree>
    <p:extLst>
      <p:ext uri="{BB962C8B-B14F-4D97-AF65-F5344CB8AC3E}">
        <p14:creationId xmlns:p14="http://schemas.microsoft.com/office/powerpoint/2010/main" val="2989842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12</a:t>
            </a:fld>
            <a:endParaRPr lang="en-PS"/>
          </a:p>
        </p:txBody>
      </p:sp>
    </p:spTree>
    <p:extLst>
      <p:ext uri="{BB962C8B-B14F-4D97-AF65-F5344CB8AC3E}">
        <p14:creationId xmlns:p14="http://schemas.microsoft.com/office/powerpoint/2010/main" val="5744926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13</a:t>
            </a:fld>
            <a:endParaRPr lang="en-PS"/>
          </a:p>
        </p:txBody>
      </p:sp>
    </p:spTree>
    <p:extLst>
      <p:ext uri="{BB962C8B-B14F-4D97-AF65-F5344CB8AC3E}">
        <p14:creationId xmlns:p14="http://schemas.microsoft.com/office/powerpoint/2010/main" val="35748464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14</a:t>
            </a:fld>
            <a:endParaRPr lang="en-PS"/>
          </a:p>
        </p:txBody>
      </p:sp>
    </p:spTree>
    <p:extLst>
      <p:ext uri="{BB962C8B-B14F-4D97-AF65-F5344CB8AC3E}">
        <p14:creationId xmlns:p14="http://schemas.microsoft.com/office/powerpoint/2010/main" val="19869196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15</a:t>
            </a:fld>
            <a:endParaRPr lang="en-PS"/>
          </a:p>
        </p:txBody>
      </p:sp>
    </p:spTree>
    <p:extLst>
      <p:ext uri="{BB962C8B-B14F-4D97-AF65-F5344CB8AC3E}">
        <p14:creationId xmlns:p14="http://schemas.microsoft.com/office/powerpoint/2010/main" val="34344709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16</a:t>
            </a:fld>
            <a:endParaRPr lang="en-PS"/>
          </a:p>
        </p:txBody>
      </p:sp>
    </p:spTree>
    <p:extLst>
      <p:ext uri="{BB962C8B-B14F-4D97-AF65-F5344CB8AC3E}">
        <p14:creationId xmlns:p14="http://schemas.microsoft.com/office/powerpoint/2010/main" val="13531900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17</a:t>
            </a:fld>
            <a:endParaRPr lang="en-PS"/>
          </a:p>
        </p:txBody>
      </p:sp>
    </p:spTree>
    <p:extLst>
      <p:ext uri="{BB962C8B-B14F-4D97-AF65-F5344CB8AC3E}">
        <p14:creationId xmlns:p14="http://schemas.microsoft.com/office/powerpoint/2010/main" val="2424635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S" dirty="0"/>
          </a:p>
        </p:txBody>
      </p:sp>
      <p:sp>
        <p:nvSpPr>
          <p:cNvPr id="4" name="Slide Number Placeholder 3"/>
          <p:cNvSpPr>
            <a:spLocks noGrp="1"/>
          </p:cNvSpPr>
          <p:nvPr>
            <p:ph type="sldNum" sz="quarter" idx="5"/>
          </p:nvPr>
        </p:nvSpPr>
        <p:spPr/>
        <p:txBody>
          <a:bodyPr/>
          <a:lstStyle/>
          <a:p>
            <a:fld id="{EBD429AC-7C8D-7946-8056-5321CEB5E6E5}" type="slidenum">
              <a:rPr lang="en-PS" smtClean="0"/>
              <a:t>18</a:t>
            </a:fld>
            <a:endParaRPr lang="en-PS"/>
          </a:p>
        </p:txBody>
      </p:sp>
    </p:spTree>
    <p:extLst>
      <p:ext uri="{BB962C8B-B14F-4D97-AF65-F5344CB8AC3E}">
        <p14:creationId xmlns:p14="http://schemas.microsoft.com/office/powerpoint/2010/main" val="11317277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B7F26-0EAE-4908-86D3-3B5A39EC58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S"/>
          </a:p>
        </p:txBody>
      </p:sp>
      <p:sp>
        <p:nvSpPr>
          <p:cNvPr id="3" name="Subtitle 2">
            <a:extLst>
              <a:ext uri="{FF2B5EF4-FFF2-40B4-BE49-F238E27FC236}">
                <a16:creationId xmlns:a16="http://schemas.microsoft.com/office/drawing/2014/main" id="{E3D233D1-D4BA-7611-ECD6-6FB8D0EE43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S"/>
          </a:p>
        </p:txBody>
      </p:sp>
      <p:sp>
        <p:nvSpPr>
          <p:cNvPr id="4" name="Date Placeholder 3">
            <a:extLst>
              <a:ext uri="{FF2B5EF4-FFF2-40B4-BE49-F238E27FC236}">
                <a16:creationId xmlns:a16="http://schemas.microsoft.com/office/drawing/2014/main" id="{763CED39-579D-1D23-4C0E-1FC3E0067B26}"/>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5" name="Footer Placeholder 4">
            <a:extLst>
              <a:ext uri="{FF2B5EF4-FFF2-40B4-BE49-F238E27FC236}">
                <a16:creationId xmlns:a16="http://schemas.microsoft.com/office/drawing/2014/main" id="{43C967AD-9859-3C3E-4477-EB78F47EA794}"/>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E2A686EF-ADCF-02C0-89DF-5A6695B62779}"/>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4257283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4CA4B-B87A-36EC-843D-D1E5DC58AB26}"/>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446962A3-FAAB-0746-6CED-CDF2F519FC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D8E87B00-A11D-4690-1915-89544C2DF3B8}"/>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5" name="Footer Placeholder 4">
            <a:extLst>
              <a:ext uri="{FF2B5EF4-FFF2-40B4-BE49-F238E27FC236}">
                <a16:creationId xmlns:a16="http://schemas.microsoft.com/office/drawing/2014/main" id="{02CAEC92-B783-A6CC-AC1B-A17DEC4DF532}"/>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4A30C9AF-F8CF-1979-FE6F-29D064575810}"/>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184511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39187-2A25-3089-D705-826E8933B91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S"/>
          </a:p>
        </p:txBody>
      </p:sp>
      <p:sp>
        <p:nvSpPr>
          <p:cNvPr id="3" name="Text Placeholder 2">
            <a:extLst>
              <a:ext uri="{FF2B5EF4-FFF2-40B4-BE49-F238E27FC236}">
                <a16:creationId xmlns:a16="http://schemas.microsoft.com/office/drawing/2014/main" id="{720D3B83-CEF9-E3C9-38B7-A059A3D2DA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04F0846-6B69-494A-3DA7-B31BD2A48E64}"/>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5" name="Footer Placeholder 4">
            <a:extLst>
              <a:ext uri="{FF2B5EF4-FFF2-40B4-BE49-F238E27FC236}">
                <a16:creationId xmlns:a16="http://schemas.microsoft.com/office/drawing/2014/main" id="{5A32E9C4-72CA-CB10-5FF6-A9D174191A0A}"/>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2E6A12D8-E017-55B1-A180-01C49E566C75}"/>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142564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A351B-2DAF-BAAD-0CB8-FE20B6896BF9}"/>
              </a:ext>
            </a:extLst>
          </p:cNvPr>
          <p:cNvSpPr>
            <a:spLocks noGrp="1"/>
          </p:cNvSpPr>
          <p:nvPr>
            <p:ph type="title"/>
          </p:nvPr>
        </p:nvSpPr>
        <p:spPr/>
        <p:txBody>
          <a:bodyPr/>
          <a:lstStyle/>
          <a:p>
            <a:r>
              <a:rPr lang="en-US"/>
              <a:t>Click to edit Master title style</a:t>
            </a:r>
            <a:endParaRPr lang="en-PS"/>
          </a:p>
        </p:txBody>
      </p:sp>
      <p:sp>
        <p:nvSpPr>
          <p:cNvPr id="3" name="Content Placeholder 2">
            <a:extLst>
              <a:ext uri="{FF2B5EF4-FFF2-40B4-BE49-F238E27FC236}">
                <a16:creationId xmlns:a16="http://schemas.microsoft.com/office/drawing/2014/main" id="{A0F1150E-A015-CCEB-C4BC-3DA525D1821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Content Placeholder 3">
            <a:extLst>
              <a:ext uri="{FF2B5EF4-FFF2-40B4-BE49-F238E27FC236}">
                <a16:creationId xmlns:a16="http://schemas.microsoft.com/office/drawing/2014/main" id="{245426DA-0AAC-892B-CACE-D3FD05201C1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Date Placeholder 4">
            <a:extLst>
              <a:ext uri="{FF2B5EF4-FFF2-40B4-BE49-F238E27FC236}">
                <a16:creationId xmlns:a16="http://schemas.microsoft.com/office/drawing/2014/main" id="{5283030C-ADCA-0DE9-D16B-8C27C8775382}"/>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6" name="Footer Placeholder 5">
            <a:extLst>
              <a:ext uri="{FF2B5EF4-FFF2-40B4-BE49-F238E27FC236}">
                <a16:creationId xmlns:a16="http://schemas.microsoft.com/office/drawing/2014/main" id="{0D1506DC-C1B1-BA2C-B3A6-A432E214BEBC}"/>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CEB71E50-9057-3040-3B59-E6C488ECD866}"/>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29981839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A3688-610F-D3A0-F880-5D2D9CFA5D61}"/>
              </a:ext>
            </a:extLst>
          </p:cNvPr>
          <p:cNvSpPr>
            <a:spLocks noGrp="1"/>
          </p:cNvSpPr>
          <p:nvPr>
            <p:ph type="title"/>
          </p:nvPr>
        </p:nvSpPr>
        <p:spPr>
          <a:xfrm>
            <a:off x="839788" y="365125"/>
            <a:ext cx="10515600" cy="1325563"/>
          </a:xfrm>
        </p:spPr>
        <p:txBody>
          <a:bodyPr/>
          <a:lstStyle/>
          <a:p>
            <a:r>
              <a:rPr lang="en-US"/>
              <a:t>Click to edit Master title style</a:t>
            </a:r>
            <a:endParaRPr lang="en-PS"/>
          </a:p>
        </p:txBody>
      </p:sp>
      <p:sp>
        <p:nvSpPr>
          <p:cNvPr id="3" name="Text Placeholder 2">
            <a:extLst>
              <a:ext uri="{FF2B5EF4-FFF2-40B4-BE49-F238E27FC236}">
                <a16:creationId xmlns:a16="http://schemas.microsoft.com/office/drawing/2014/main" id="{5E754AE1-C469-2487-904B-3B240A241D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2B8827-58C4-CFA6-D58D-108187C2A5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5" name="Text Placeholder 4">
            <a:extLst>
              <a:ext uri="{FF2B5EF4-FFF2-40B4-BE49-F238E27FC236}">
                <a16:creationId xmlns:a16="http://schemas.microsoft.com/office/drawing/2014/main" id="{06C21431-1DE1-BFDA-2649-776A846E3F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316851-DC02-8559-D84C-1DFAEE8FD9B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7" name="Date Placeholder 6">
            <a:extLst>
              <a:ext uri="{FF2B5EF4-FFF2-40B4-BE49-F238E27FC236}">
                <a16:creationId xmlns:a16="http://schemas.microsoft.com/office/drawing/2014/main" id="{36AD5B7C-1C72-4728-B074-5DE1606F5987}"/>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8" name="Footer Placeholder 7">
            <a:extLst>
              <a:ext uri="{FF2B5EF4-FFF2-40B4-BE49-F238E27FC236}">
                <a16:creationId xmlns:a16="http://schemas.microsoft.com/office/drawing/2014/main" id="{D8BF40BD-E680-5E10-16A7-D5E867F7FCBD}"/>
              </a:ext>
            </a:extLst>
          </p:cNvPr>
          <p:cNvSpPr>
            <a:spLocks noGrp="1"/>
          </p:cNvSpPr>
          <p:nvPr>
            <p:ph type="ftr" sz="quarter" idx="11"/>
          </p:nvPr>
        </p:nvSpPr>
        <p:spPr/>
        <p:txBody>
          <a:bodyPr/>
          <a:lstStyle/>
          <a:p>
            <a:endParaRPr lang="en-PS"/>
          </a:p>
        </p:txBody>
      </p:sp>
      <p:sp>
        <p:nvSpPr>
          <p:cNvPr id="9" name="Slide Number Placeholder 8">
            <a:extLst>
              <a:ext uri="{FF2B5EF4-FFF2-40B4-BE49-F238E27FC236}">
                <a16:creationId xmlns:a16="http://schemas.microsoft.com/office/drawing/2014/main" id="{5C58A886-84C0-DBEA-B09A-412E9C182B45}"/>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41856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2710C-DD95-B23F-FD8F-08CC850CF0D0}"/>
              </a:ext>
            </a:extLst>
          </p:cNvPr>
          <p:cNvSpPr>
            <a:spLocks noGrp="1"/>
          </p:cNvSpPr>
          <p:nvPr>
            <p:ph type="title"/>
          </p:nvPr>
        </p:nvSpPr>
        <p:spPr/>
        <p:txBody>
          <a:bodyPr/>
          <a:lstStyle/>
          <a:p>
            <a:r>
              <a:rPr lang="en-US"/>
              <a:t>Click to edit Master title style</a:t>
            </a:r>
            <a:endParaRPr lang="en-PS"/>
          </a:p>
        </p:txBody>
      </p:sp>
      <p:sp>
        <p:nvSpPr>
          <p:cNvPr id="3" name="Date Placeholder 2">
            <a:extLst>
              <a:ext uri="{FF2B5EF4-FFF2-40B4-BE49-F238E27FC236}">
                <a16:creationId xmlns:a16="http://schemas.microsoft.com/office/drawing/2014/main" id="{DF1469E7-73D1-0042-C189-6D8D82E3361B}"/>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4" name="Footer Placeholder 3">
            <a:extLst>
              <a:ext uri="{FF2B5EF4-FFF2-40B4-BE49-F238E27FC236}">
                <a16:creationId xmlns:a16="http://schemas.microsoft.com/office/drawing/2014/main" id="{B54FA649-E25C-E59A-7B7A-C08B561B55D0}"/>
              </a:ext>
            </a:extLst>
          </p:cNvPr>
          <p:cNvSpPr>
            <a:spLocks noGrp="1"/>
          </p:cNvSpPr>
          <p:nvPr>
            <p:ph type="ftr" sz="quarter" idx="11"/>
          </p:nvPr>
        </p:nvSpPr>
        <p:spPr/>
        <p:txBody>
          <a:bodyPr/>
          <a:lstStyle/>
          <a:p>
            <a:endParaRPr lang="en-PS"/>
          </a:p>
        </p:txBody>
      </p:sp>
      <p:sp>
        <p:nvSpPr>
          <p:cNvPr id="5" name="Slide Number Placeholder 4">
            <a:extLst>
              <a:ext uri="{FF2B5EF4-FFF2-40B4-BE49-F238E27FC236}">
                <a16:creationId xmlns:a16="http://schemas.microsoft.com/office/drawing/2014/main" id="{81609C41-4446-99BF-F036-20B8469380F0}"/>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32795350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E6258-7963-3C4D-AEDC-1655E8833110}"/>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3" name="Footer Placeholder 2">
            <a:extLst>
              <a:ext uri="{FF2B5EF4-FFF2-40B4-BE49-F238E27FC236}">
                <a16:creationId xmlns:a16="http://schemas.microsoft.com/office/drawing/2014/main" id="{2A738DA2-12B1-DA95-7315-E9080726AA1B}"/>
              </a:ext>
            </a:extLst>
          </p:cNvPr>
          <p:cNvSpPr>
            <a:spLocks noGrp="1"/>
          </p:cNvSpPr>
          <p:nvPr>
            <p:ph type="ftr" sz="quarter" idx="11"/>
          </p:nvPr>
        </p:nvSpPr>
        <p:spPr/>
        <p:txBody>
          <a:bodyPr/>
          <a:lstStyle/>
          <a:p>
            <a:endParaRPr lang="en-PS"/>
          </a:p>
        </p:txBody>
      </p:sp>
      <p:sp>
        <p:nvSpPr>
          <p:cNvPr id="4" name="Slide Number Placeholder 3">
            <a:extLst>
              <a:ext uri="{FF2B5EF4-FFF2-40B4-BE49-F238E27FC236}">
                <a16:creationId xmlns:a16="http://schemas.microsoft.com/office/drawing/2014/main" id="{BEA40F2B-01B4-9A65-30D0-E82AFA453952}"/>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2631123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A2E3A-D6F9-CED8-8B98-7B944A6396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Content Placeholder 2">
            <a:extLst>
              <a:ext uri="{FF2B5EF4-FFF2-40B4-BE49-F238E27FC236}">
                <a16:creationId xmlns:a16="http://schemas.microsoft.com/office/drawing/2014/main" id="{02CCCA9B-11AB-5BC8-999E-877432DF225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Text Placeholder 3">
            <a:extLst>
              <a:ext uri="{FF2B5EF4-FFF2-40B4-BE49-F238E27FC236}">
                <a16:creationId xmlns:a16="http://schemas.microsoft.com/office/drawing/2014/main" id="{355FBFE8-F64E-1581-0B73-67E73A9F5D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4E17B5-A938-8B3F-AF19-6391F3BC42F3}"/>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6" name="Footer Placeholder 5">
            <a:extLst>
              <a:ext uri="{FF2B5EF4-FFF2-40B4-BE49-F238E27FC236}">
                <a16:creationId xmlns:a16="http://schemas.microsoft.com/office/drawing/2014/main" id="{244C36D6-9CF7-AAE6-1F39-E7E9F15081CB}"/>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8936CB22-29ED-FE62-77EB-4D23B770DB8E}"/>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2990054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9AB30-0C70-0ECB-7BE7-34CF268440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S"/>
          </a:p>
        </p:txBody>
      </p:sp>
      <p:sp>
        <p:nvSpPr>
          <p:cNvPr id="3" name="Picture Placeholder 2">
            <a:extLst>
              <a:ext uri="{FF2B5EF4-FFF2-40B4-BE49-F238E27FC236}">
                <a16:creationId xmlns:a16="http://schemas.microsoft.com/office/drawing/2014/main" id="{857B2514-B176-CD3A-6120-0BBD95CF6D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S"/>
          </a:p>
        </p:txBody>
      </p:sp>
      <p:sp>
        <p:nvSpPr>
          <p:cNvPr id="4" name="Text Placeholder 3">
            <a:extLst>
              <a:ext uri="{FF2B5EF4-FFF2-40B4-BE49-F238E27FC236}">
                <a16:creationId xmlns:a16="http://schemas.microsoft.com/office/drawing/2014/main" id="{A27F5299-FC3A-BC66-9C32-F6FF26D95D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399708-9CC9-D686-5A93-9FCE6AF4FF17}"/>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6" name="Footer Placeholder 5">
            <a:extLst>
              <a:ext uri="{FF2B5EF4-FFF2-40B4-BE49-F238E27FC236}">
                <a16:creationId xmlns:a16="http://schemas.microsoft.com/office/drawing/2014/main" id="{1EE6CF8A-4300-681D-8979-F594DF715927}"/>
              </a:ext>
            </a:extLst>
          </p:cNvPr>
          <p:cNvSpPr>
            <a:spLocks noGrp="1"/>
          </p:cNvSpPr>
          <p:nvPr>
            <p:ph type="ftr" sz="quarter" idx="11"/>
          </p:nvPr>
        </p:nvSpPr>
        <p:spPr/>
        <p:txBody>
          <a:bodyPr/>
          <a:lstStyle/>
          <a:p>
            <a:endParaRPr lang="en-PS"/>
          </a:p>
        </p:txBody>
      </p:sp>
      <p:sp>
        <p:nvSpPr>
          <p:cNvPr id="7" name="Slide Number Placeholder 6">
            <a:extLst>
              <a:ext uri="{FF2B5EF4-FFF2-40B4-BE49-F238E27FC236}">
                <a16:creationId xmlns:a16="http://schemas.microsoft.com/office/drawing/2014/main" id="{D3A95ADB-C2AB-8C65-625D-BE38239A7756}"/>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1441513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8585FB-5619-8FEC-459F-7B1E67097F38}"/>
              </a:ext>
            </a:extLst>
          </p:cNvPr>
          <p:cNvSpPr>
            <a:spLocks noGrp="1"/>
          </p:cNvSpPr>
          <p:nvPr>
            <p:ph type="title"/>
          </p:nvPr>
        </p:nvSpPr>
        <p:spPr/>
        <p:txBody>
          <a:bodyPr/>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A7772035-2B22-D3D7-23B4-F91704B9A9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F99EB385-BE8D-45EA-0524-48140D22B7EC}"/>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5" name="Footer Placeholder 4">
            <a:extLst>
              <a:ext uri="{FF2B5EF4-FFF2-40B4-BE49-F238E27FC236}">
                <a16:creationId xmlns:a16="http://schemas.microsoft.com/office/drawing/2014/main" id="{20F4D4D3-A7E2-D150-1B13-94850F971784}"/>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7D0175EF-5C1B-7D40-38D7-DEB699C9C6FC}"/>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864629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D6FE18-C657-7B9A-1781-4E81D0A10FD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S"/>
          </a:p>
        </p:txBody>
      </p:sp>
      <p:sp>
        <p:nvSpPr>
          <p:cNvPr id="3" name="Vertical Text Placeholder 2">
            <a:extLst>
              <a:ext uri="{FF2B5EF4-FFF2-40B4-BE49-F238E27FC236}">
                <a16:creationId xmlns:a16="http://schemas.microsoft.com/office/drawing/2014/main" id="{B57EB617-C143-23ED-7B08-0FC5C7E4F0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7D7DA1B6-1F28-B6FB-C4B0-4D4B6CE8CF6A}"/>
              </a:ext>
            </a:extLst>
          </p:cNvPr>
          <p:cNvSpPr>
            <a:spLocks noGrp="1"/>
          </p:cNvSpPr>
          <p:nvPr>
            <p:ph type="dt" sz="half" idx="10"/>
          </p:nvPr>
        </p:nvSpPr>
        <p:spPr/>
        <p:txBody>
          <a:bodyPr/>
          <a:lstStyle/>
          <a:p>
            <a:fld id="{10249911-8999-0D4A-A8C4-8933C97BC111}" type="datetimeFigureOut">
              <a:rPr lang="en-PS" smtClean="0"/>
              <a:t>13/09/2026</a:t>
            </a:fld>
            <a:endParaRPr lang="en-PS"/>
          </a:p>
        </p:txBody>
      </p:sp>
      <p:sp>
        <p:nvSpPr>
          <p:cNvPr id="5" name="Footer Placeholder 4">
            <a:extLst>
              <a:ext uri="{FF2B5EF4-FFF2-40B4-BE49-F238E27FC236}">
                <a16:creationId xmlns:a16="http://schemas.microsoft.com/office/drawing/2014/main" id="{26288762-54D7-B582-5B3B-57134C156404}"/>
              </a:ext>
            </a:extLst>
          </p:cNvPr>
          <p:cNvSpPr>
            <a:spLocks noGrp="1"/>
          </p:cNvSpPr>
          <p:nvPr>
            <p:ph type="ftr" sz="quarter" idx="11"/>
          </p:nvPr>
        </p:nvSpPr>
        <p:spPr/>
        <p:txBody>
          <a:bodyPr/>
          <a:lstStyle/>
          <a:p>
            <a:endParaRPr lang="en-PS"/>
          </a:p>
        </p:txBody>
      </p:sp>
      <p:sp>
        <p:nvSpPr>
          <p:cNvPr id="6" name="Slide Number Placeholder 5">
            <a:extLst>
              <a:ext uri="{FF2B5EF4-FFF2-40B4-BE49-F238E27FC236}">
                <a16:creationId xmlns:a16="http://schemas.microsoft.com/office/drawing/2014/main" id="{FE14BB40-1770-15F6-36E0-165B311401A0}"/>
              </a:ext>
            </a:extLst>
          </p:cNvPr>
          <p:cNvSpPr>
            <a:spLocks noGrp="1"/>
          </p:cNvSpPr>
          <p:nvPr>
            <p:ph type="sldNum" sz="quarter" idx="12"/>
          </p:nvPr>
        </p:nvSpPr>
        <p:spPr/>
        <p:txBody>
          <a:bodyPr/>
          <a:lstStyle/>
          <a:p>
            <a:fld id="{09F48514-F7FA-8047-A783-6BE9D76323A7}" type="slidenum">
              <a:rPr lang="en-PS" smtClean="0"/>
              <a:t>‹#›</a:t>
            </a:fld>
            <a:endParaRPr lang="en-PS"/>
          </a:p>
        </p:txBody>
      </p:sp>
    </p:spTree>
    <p:extLst>
      <p:ext uri="{BB962C8B-B14F-4D97-AF65-F5344CB8AC3E}">
        <p14:creationId xmlns:p14="http://schemas.microsoft.com/office/powerpoint/2010/main" val="42686172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1D3D66-E247-BB78-9A97-4B664F7A6F3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S"/>
          </a:p>
        </p:txBody>
      </p:sp>
      <p:sp>
        <p:nvSpPr>
          <p:cNvPr id="3" name="Text Placeholder 2">
            <a:extLst>
              <a:ext uri="{FF2B5EF4-FFF2-40B4-BE49-F238E27FC236}">
                <a16:creationId xmlns:a16="http://schemas.microsoft.com/office/drawing/2014/main" id="{1D0944CF-033A-8328-AB01-AB6067B4F4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S"/>
          </a:p>
        </p:txBody>
      </p:sp>
      <p:sp>
        <p:nvSpPr>
          <p:cNvPr id="4" name="Date Placeholder 3">
            <a:extLst>
              <a:ext uri="{FF2B5EF4-FFF2-40B4-BE49-F238E27FC236}">
                <a16:creationId xmlns:a16="http://schemas.microsoft.com/office/drawing/2014/main" id="{BA13433C-4098-A1B9-DE29-588A94AC28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249911-8999-0D4A-A8C4-8933C97BC111}" type="datetimeFigureOut">
              <a:rPr lang="en-PS" smtClean="0"/>
              <a:t>13/09/2026</a:t>
            </a:fld>
            <a:endParaRPr lang="en-PS"/>
          </a:p>
        </p:txBody>
      </p:sp>
      <p:sp>
        <p:nvSpPr>
          <p:cNvPr id="5" name="Footer Placeholder 4">
            <a:extLst>
              <a:ext uri="{FF2B5EF4-FFF2-40B4-BE49-F238E27FC236}">
                <a16:creationId xmlns:a16="http://schemas.microsoft.com/office/drawing/2014/main" id="{1AF81196-7A6E-82D9-39DF-B86A252ADA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S"/>
          </a:p>
        </p:txBody>
      </p:sp>
      <p:sp>
        <p:nvSpPr>
          <p:cNvPr id="6" name="Slide Number Placeholder 5">
            <a:extLst>
              <a:ext uri="{FF2B5EF4-FFF2-40B4-BE49-F238E27FC236}">
                <a16:creationId xmlns:a16="http://schemas.microsoft.com/office/drawing/2014/main" id="{FD8AAC78-B772-C36C-64C2-2164B04D5A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F48514-F7FA-8047-A783-6BE9D76323A7}" type="slidenum">
              <a:rPr lang="en-PS" smtClean="0"/>
              <a:t>‹#›</a:t>
            </a:fld>
            <a:endParaRPr lang="en-PS"/>
          </a:p>
        </p:txBody>
      </p:sp>
    </p:spTree>
    <p:extLst>
      <p:ext uri="{BB962C8B-B14F-4D97-AF65-F5344CB8AC3E}">
        <p14:creationId xmlns:p14="http://schemas.microsoft.com/office/powerpoint/2010/main" val="28486886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hyperlink" Target="https://git-scm.com/"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hyperlink" Target="mailto:yanal.swaseh@najah.edu" TargetMode="External"/><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amjadataallah.github.io/" TargetMode="External"/><Relationship Id="rId11" Type="http://schemas.openxmlformats.org/officeDocument/2006/relationships/image" Target="../media/image5.png"/><Relationship Id="rId5" Type="http://schemas.openxmlformats.org/officeDocument/2006/relationships/hyperlink" Target="https://www.linkedin.com/in/ataallah/" TargetMode="External"/><Relationship Id="rId10" Type="http://schemas.openxmlformats.org/officeDocument/2006/relationships/hyperlink" Target="https://github.com/yswesieh" TargetMode="External"/><Relationship Id="rId4" Type="http://schemas.openxmlformats.org/officeDocument/2006/relationships/hyperlink" Target="mailto:amjad.atallah@najah.edu" TargetMode="External"/><Relationship Id="rId9" Type="http://schemas.openxmlformats.org/officeDocument/2006/relationships/hyperlink" Target="https://www.linkedin.com/in/yanalsweseh/"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g37d8b7104ca_0_153"/>
          <p:cNvSpPr txBox="1">
            <a:spLocks noGrp="1"/>
          </p:cNvSpPr>
          <p:nvPr>
            <p:ph type="ctrTitle"/>
          </p:nvPr>
        </p:nvSpPr>
        <p:spPr>
          <a:xfrm>
            <a:off x="1835708" y="992767"/>
            <a:ext cx="8520600" cy="2736900"/>
          </a:xfrm>
          <a:prstGeom prst="rect">
            <a:avLst/>
          </a:prstGeom>
        </p:spPr>
        <p:txBody>
          <a:bodyPr spcFirstLastPara="1" vert="horz" wrap="square" lIns="91425" tIns="91425" rIns="91425" bIns="91425" rtlCol="0" anchor="b" anchorCtr="0">
            <a:normAutofit/>
          </a:bodyPr>
          <a:lstStyle/>
          <a:p>
            <a:pPr>
              <a:spcBef>
                <a:spcPts val="0"/>
              </a:spcBef>
            </a:pPr>
            <a:r>
              <a:rPr lang="en-US" sz="3900"/>
              <a:t>Team Project 1 - CAP</a:t>
            </a:r>
            <a:endParaRPr/>
          </a:p>
        </p:txBody>
      </p:sp>
      <p:sp>
        <p:nvSpPr>
          <p:cNvPr id="61" name="Google Shape;61;g37d8b7104ca_0_153"/>
          <p:cNvSpPr txBox="1">
            <a:spLocks noGrp="1"/>
          </p:cNvSpPr>
          <p:nvPr>
            <p:ph type="subTitle" idx="1"/>
          </p:nvPr>
        </p:nvSpPr>
        <p:spPr>
          <a:xfrm>
            <a:off x="1835700" y="3778833"/>
            <a:ext cx="8520600" cy="1056900"/>
          </a:xfrm>
          <a:prstGeom prst="rect">
            <a:avLst/>
          </a:prstGeom>
        </p:spPr>
        <p:txBody>
          <a:bodyPr spcFirstLastPara="1" vert="horz" wrap="square" lIns="91425" tIns="91425" rIns="91425" bIns="91425" rtlCol="0" anchor="t" anchorCtr="0">
            <a:normAutofit/>
          </a:bodyPr>
          <a:lstStyle/>
          <a:p>
            <a:pPr>
              <a:lnSpc>
                <a:spcPct val="150000"/>
              </a:lnSpc>
              <a:spcBef>
                <a:spcPts val="0"/>
              </a:spcBef>
              <a:buClr>
                <a:schemeClr val="dk1"/>
              </a:buClr>
              <a:buSzPts val="2800"/>
            </a:pPr>
            <a:r>
              <a:rPr lang="en-US" sz="2550"/>
              <a:t>Git &amp; GitHub </a:t>
            </a:r>
            <a:endParaRPr/>
          </a:p>
        </p:txBody>
      </p:sp>
      <p:pic>
        <p:nvPicPr>
          <p:cNvPr id="62" name="Google Shape;62;g37d8b7104ca_0_153"/>
          <p:cNvPicPr preferRelativeResize="0"/>
          <p:nvPr/>
        </p:nvPicPr>
        <p:blipFill>
          <a:blip r:embed="rId3">
            <a:alphaModFix/>
          </a:blip>
          <a:stretch>
            <a:fillRect/>
          </a:stretch>
        </p:blipFill>
        <p:spPr>
          <a:xfrm>
            <a:off x="5237264" y="919484"/>
            <a:ext cx="1717467" cy="171746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Version Control</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7" name="TextBox 6">
            <a:extLst>
              <a:ext uri="{FF2B5EF4-FFF2-40B4-BE49-F238E27FC236}">
                <a16:creationId xmlns:a16="http://schemas.microsoft.com/office/drawing/2014/main" id="{5A40A2D1-650D-2F05-0E0D-B8AA7DB96510}"/>
              </a:ext>
            </a:extLst>
          </p:cNvPr>
          <p:cNvSpPr txBox="1"/>
          <p:nvPr/>
        </p:nvSpPr>
        <p:spPr>
          <a:xfrm>
            <a:off x="707781" y="1250575"/>
            <a:ext cx="10660687" cy="1569660"/>
          </a:xfrm>
          <a:prstGeom prst="rect">
            <a:avLst/>
          </a:prstGeom>
          <a:noFill/>
        </p:spPr>
        <p:txBody>
          <a:bodyPr wrap="square">
            <a:spAutoFit/>
          </a:bodyPr>
          <a:lstStyle/>
          <a:p>
            <a:r>
              <a:rPr lang="en-PS" sz="3200" b="1" dirty="0"/>
              <a:t>What is “version control”?</a:t>
            </a:r>
          </a:p>
          <a:p>
            <a:r>
              <a:rPr lang="en-PS" sz="3200" dirty="0"/>
              <a:t>Version control is a system that records changes to a file or set of files over time so that you can recall specific versions later. </a:t>
            </a:r>
          </a:p>
        </p:txBody>
      </p:sp>
      <p:sp>
        <p:nvSpPr>
          <p:cNvPr id="8" name="TextBox 7">
            <a:extLst>
              <a:ext uri="{FF2B5EF4-FFF2-40B4-BE49-F238E27FC236}">
                <a16:creationId xmlns:a16="http://schemas.microsoft.com/office/drawing/2014/main" id="{22DC232F-3898-CB5A-EC2C-4F55F29AFFA8}"/>
              </a:ext>
            </a:extLst>
          </p:cNvPr>
          <p:cNvSpPr txBox="1"/>
          <p:nvPr/>
        </p:nvSpPr>
        <p:spPr>
          <a:xfrm>
            <a:off x="707780" y="3299101"/>
            <a:ext cx="10660687" cy="2431435"/>
          </a:xfrm>
          <a:prstGeom prst="rect">
            <a:avLst/>
          </a:prstGeom>
          <a:noFill/>
        </p:spPr>
        <p:txBody>
          <a:bodyPr wrap="square">
            <a:spAutoFit/>
          </a:bodyPr>
          <a:lstStyle/>
          <a:p>
            <a:r>
              <a:rPr lang="en-PS" sz="3200" b="1" dirty="0"/>
              <a:t>why should you care? </a:t>
            </a:r>
          </a:p>
          <a:p>
            <a:pPr marL="285750" indent="-285750">
              <a:buFont typeface="Arial" panose="020B0604020202020204" pitchFamily="34" charset="0"/>
              <a:buChar char="•"/>
            </a:pPr>
            <a:r>
              <a:rPr lang="en-US" sz="2400" dirty="0"/>
              <a:t>Revert selected files back to a previous state.</a:t>
            </a:r>
          </a:p>
          <a:p>
            <a:pPr marL="285750" indent="-285750">
              <a:buFont typeface="Arial" panose="020B0604020202020204" pitchFamily="34" charset="0"/>
              <a:buChar char="•"/>
            </a:pPr>
            <a:r>
              <a:rPr lang="en-US" sz="2400" dirty="0"/>
              <a:t>Revert the entire project back to a previous state.</a:t>
            </a:r>
          </a:p>
          <a:p>
            <a:pPr marL="285750" indent="-285750">
              <a:buFont typeface="Arial" panose="020B0604020202020204" pitchFamily="34" charset="0"/>
              <a:buChar char="•"/>
            </a:pPr>
            <a:r>
              <a:rPr lang="en-US" sz="2400" dirty="0"/>
              <a:t>Compare changes over time.</a:t>
            </a:r>
          </a:p>
          <a:p>
            <a:pPr marL="285750" indent="-285750">
              <a:buFont typeface="Arial" panose="020B0604020202020204" pitchFamily="34" charset="0"/>
              <a:buChar char="•"/>
            </a:pPr>
            <a:r>
              <a:rPr lang="en-US" sz="2400" dirty="0"/>
              <a:t>See who last modified something.</a:t>
            </a:r>
          </a:p>
          <a:p>
            <a:pPr marL="285750" indent="-285750">
              <a:buFont typeface="Arial" panose="020B0604020202020204" pitchFamily="34" charset="0"/>
              <a:buChar char="•"/>
            </a:pPr>
            <a:r>
              <a:rPr lang="en-US" sz="2400" dirty="0"/>
              <a:t>Who introduced an issue and when.</a:t>
            </a:r>
          </a:p>
        </p:txBody>
      </p:sp>
    </p:spTree>
    <p:extLst>
      <p:ext uri="{BB962C8B-B14F-4D97-AF65-F5344CB8AC3E}">
        <p14:creationId xmlns:p14="http://schemas.microsoft.com/office/powerpoint/2010/main" val="3485632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Distributed Version Control Systems</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7" name="TextBox 6">
            <a:extLst>
              <a:ext uri="{FF2B5EF4-FFF2-40B4-BE49-F238E27FC236}">
                <a16:creationId xmlns:a16="http://schemas.microsoft.com/office/drawing/2014/main" id="{5A40A2D1-650D-2F05-0E0D-B8AA7DB96510}"/>
              </a:ext>
            </a:extLst>
          </p:cNvPr>
          <p:cNvSpPr txBox="1"/>
          <p:nvPr/>
        </p:nvSpPr>
        <p:spPr>
          <a:xfrm>
            <a:off x="707781" y="1250575"/>
            <a:ext cx="10660687" cy="1569660"/>
          </a:xfrm>
          <a:prstGeom prst="rect">
            <a:avLst/>
          </a:prstGeom>
          <a:noFill/>
        </p:spPr>
        <p:txBody>
          <a:bodyPr wrap="square">
            <a:spAutoFit/>
          </a:bodyPr>
          <a:lstStyle/>
          <a:p>
            <a:r>
              <a:rPr lang="en-US" sz="3200" dirty="0"/>
              <a:t>DVCS (such as Git, Mercurial or </a:t>
            </a:r>
            <a:r>
              <a:rPr lang="en-US" sz="3200" dirty="0" err="1"/>
              <a:t>Darcs</a:t>
            </a:r>
            <a:r>
              <a:rPr lang="en-US" sz="3200" dirty="0"/>
              <a:t>), clients don’t just check out the latest snapshot of the files; rather, they fully mirror the repository, including its full history.</a:t>
            </a:r>
            <a:endParaRPr lang="en-PS" sz="3200" dirty="0"/>
          </a:p>
        </p:txBody>
      </p:sp>
      <p:pic>
        <p:nvPicPr>
          <p:cNvPr id="3" name="Picture 2">
            <a:extLst>
              <a:ext uri="{FF2B5EF4-FFF2-40B4-BE49-F238E27FC236}">
                <a16:creationId xmlns:a16="http://schemas.microsoft.com/office/drawing/2014/main" id="{3B086BD2-F64A-1FBB-3FEE-F6A0441F8266}"/>
              </a:ext>
            </a:extLst>
          </p:cNvPr>
          <p:cNvPicPr>
            <a:picLocks noChangeAspect="1"/>
          </p:cNvPicPr>
          <p:nvPr/>
        </p:nvPicPr>
        <p:blipFill>
          <a:blip r:embed="rId4"/>
          <a:stretch>
            <a:fillRect/>
          </a:stretch>
        </p:blipFill>
        <p:spPr>
          <a:xfrm>
            <a:off x="2423481" y="2927810"/>
            <a:ext cx="6599333" cy="3598929"/>
          </a:xfrm>
          <a:prstGeom prst="rect">
            <a:avLst/>
          </a:prstGeom>
        </p:spPr>
      </p:pic>
    </p:spTree>
    <p:extLst>
      <p:ext uri="{BB962C8B-B14F-4D97-AF65-F5344CB8AC3E}">
        <p14:creationId xmlns:p14="http://schemas.microsoft.com/office/powerpoint/2010/main" val="4214298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Introduction to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2" name="TextBox 1">
            <a:extLst>
              <a:ext uri="{FF2B5EF4-FFF2-40B4-BE49-F238E27FC236}">
                <a16:creationId xmlns:a16="http://schemas.microsoft.com/office/drawing/2014/main" id="{B2B9D6FA-2F8B-32F6-6D36-8C285C5425A9}"/>
              </a:ext>
            </a:extLst>
          </p:cNvPr>
          <p:cNvSpPr txBox="1"/>
          <p:nvPr/>
        </p:nvSpPr>
        <p:spPr>
          <a:xfrm>
            <a:off x="707781" y="1250575"/>
            <a:ext cx="10660687" cy="1569660"/>
          </a:xfrm>
          <a:prstGeom prst="rect">
            <a:avLst/>
          </a:prstGeom>
          <a:noFill/>
        </p:spPr>
        <p:txBody>
          <a:bodyPr wrap="square">
            <a:spAutoFit/>
          </a:bodyPr>
          <a:lstStyle/>
          <a:p>
            <a:pPr algn="l"/>
            <a:r>
              <a:rPr lang="en-US" sz="3200" dirty="0"/>
              <a:t>Git is a </a:t>
            </a:r>
            <a:r>
              <a:rPr lang="en-US" sz="3200" b="0" i="0" u="none" strike="noStrike" dirty="0">
                <a:solidFill>
                  <a:srgbClr val="000000"/>
                </a:solidFill>
                <a:effectLst/>
                <a:latin typeface="Segoe UI" panose="020B0502040204020203" pitchFamily="34" charset="0"/>
              </a:rPr>
              <a:t>popular version control system (VCS), it is a </a:t>
            </a:r>
            <a:r>
              <a:rPr lang="en-US" sz="3200" dirty="0"/>
              <a:t>free, open source tool that helps you save and manage different versions of your files and code.</a:t>
            </a:r>
          </a:p>
        </p:txBody>
      </p:sp>
      <p:sp>
        <p:nvSpPr>
          <p:cNvPr id="6" name="Google Shape;68;p1">
            <a:extLst>
              <a:ext uri="{FF2B5EF4-FFF2-40B4-BE49-F238E27FC236}">
                <a16:creationId xmlns:a16="http://schemas.microsoft.com/office/drawing/2014/main" id="{52316FA2-80E7-4492-D414-2A2020D8F6D5}"/>
              </a:ext>
            </a:extLst>
          </p:cNvPr>
          <p:cNvSpPr txBox="1">
            <a:spLocks/>
          </p:cNvSpPr>
          <p:nvPr/>
        </p:nvSpPr>
        <p:spPr>
          <a:xfrm>
            <a:off x="707781" y="2990826"/>
            <a:ext cx="6739621" cy="2116764"/>
          </a:xfrm>
          <a:prstGeom prst="rect">
            <a:avLst/>
          </a:prstGeom>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spcBef>
                <a:spcPts val="0"/>
              </a:spcBef>
              <a:buClr>
                <a:schemeClr val="dk1"/>
              </a:buClr>
              <a:buSzPts val="3200"/>
              <a:buFont typeface="Arial" panose="020B0604020202020204" pitchFamily="34" charset="0"/>
              <a:buChar char="●"/>
            </a:pPr>
            <a:r>
              <a:rPr lang="en-US" dirty="0">
                <a:solidFill>
                  <a:schemeClr val="dk1"/>
                </a:solidFill>
              </a:rPr>
              <a:t>Distributed Version Control System (DVCS).</a:t>
            </a:r>
            <a:endParaRPr lang="en-US" dirty="0"/>
          </a:p>
          <a:p>
            <a:pPr marL="342900" indent="-342900" algn="l">
              <a:spcBef>
                <a:spcPts val="640"/>
              </a:spcBef>
              <a:buClr>
                <a:schemeClr val="dk1"/>
              </a:buClr>
              <a:buSzPts val="3200"/>
              <a:buFont typeface="Arial" panose="020B0604020202020204" pitchFamily="34" charset="0"/>
              <a:buChar char="●"/>
            </a:pPr>
            <a:r>
              <a:rPr lang="en-US" dirty="0">
                <a:solidFill>
                  <a:schemeClr val="dk1"/>
                </a:solidFill>
              </a:rPr>
              <a:t>Records changes in files over time.</a:t>
            </a:r>
            <a:endParaRPr lang="en-US" dirty="0"/>
          </a:p>
          <a:p>
            <a:pPr marL="342900" indent="-342900" algn="l">
              <a:spcBef>
                <a:spcPts val="640"/>
              </a:spcBef>
              <a:buClr>
                <a:schemeClr val="dk1"/>
              </a:buClr>
              <a:buSzPts val="3200"/>
              <a:buFont typeface="Arial" panose="020B0604020202020204" pitchFamily="34" charset="0"/>
              <a:buChar char="●"/>
            </a:pPr>
            <a:r>
              <a:rPr lang="en-US" dirty="0">
                <a:solidFill>
                  <a:schemeClr val="dk1"/>
                </a:solidFill>
              </a:rPr>
              <a:t>Allows developers to collaborate.</a:t>
            </a:r>
            <a:endParaRPr lang="en-US" dirty="0"/>
          </a:p>
          <a:p>
            <a:pPr marL="342900" indent="-342900" algn="l">
              <a:spcBef>
                <a:spcPts val="640"/>
              </a:spcBef>
              <a:buClr>
                <a:schemeClr val="dk1"/>
              </a:buClr>
              <a:buSzPts val="3200"/>
              <a:buFont typeface="Arial" panose="020B0604020202020204" pitchFamily="34" charset="0"/>
              <a:buChar char="●"/>
            </a:pPr>
            <a:r>
              <a:rPr lang="en-US" dirty="0">
                <a:solidFill>
                  <a:schemeClr val="dk1"/>
                </a:solidFill>
              </a:rPr>
              <a:t>Supports branching, merging, and tracking history.</a:t>
            </a:r>
          </a:p>
          <a:p>
            <a:pPr marL="342900" indent="-342900" algn="l">
              <a:spcBef>
                <a:spcPts val="640"/>
              </a:spcBef>
              <a:buClr>
                <a:schemeClr val="dk1"/>
              </a:buClr>
              <a:buSzPts val="3200"/>
              <a:buFont typeface="Arial" panose="020B0604020202020204" pitchFamily="34" charset="0"/>
              <a:buChar char="●"/>
            </a:pPr>
            <a:r>
              <a:rPr lang="en-US" dirty="0"/>
              <a:t>Tracks changes using </a:t>
            </a:r>
            <a:r>
              <a:rPr lang="en-US" b="1" dirty="0" err="1"/>
              <a:t>sanpshots</a:t>
            </a:r>
            <a:r>
              <a:rPr lang="en-US" dirty="0"/>
              <a:t> of a project.</a:t>
            </a:r>
          </a:p>
        </p:txBody>
      </p:sp>
      <p:sp>
        <p:nvSpPr>
          <p:cNvPr id="9" name="TextBox 8">
            <a:extLst>
              <a:ext uri="{FF2B5EF4-FFF2-40B4-BE49-F238E27FC236}">
                <a16:creationId xmlns:a16="http://schemas.microsoft.com/office/drawing/2014/main" id="{DAC643DB-B50F-FE81-F5A5-B495EA82D328}"/>
              </a:ext>
            </a:extLst>
          </p:cNvPr>
          <p:cNvSpPr txBox="1"/>
          <p:nvPr/>
        </p:nvSpPr>
        <p:spPr>
          <a:xfrm>
            <a:off x="5221056" y="5199297"/>
            <a:ext cx="6147412" cy="1645387"/>
          </a:xfrm>
          <a:prstGeom prst="rect">
            <a:avLst/>
          </a:prstGeom>
          <a:solidFill>
            <a:schemeClr val="bg1">
              <a:lumMod val="85000"/>
            </a:schemeClr>
          </a:solidFill>
        </p:spPr>
        <p:txBody>
          <a:bodyPr wrap="square">
            <a:spAutoFit/>
          </a:bodyPr>
          <a:lstStyle/>
          <a:p>
            <a:pPr marL="0" lvl="0" indent="0" algn="l" rtl="0">
              <a:lnSpc>
                <a:spcPct val="115000"/>
              </a:lnSpc>
              <a:spcBef>
                <a:spcPts val="1200"/>
              </a:spcBef>
              <a:spcAft>
                <a:spcPts val="0"/>
              </a:spcAft>
              <a:buNone/>
            </a:pPr>
            <a:r>
              <a:rPr lang="en-US" sz="1600" b="1" dirty="0">
                <a:solidFill>
                  <a:schemeClr val="dk1"/>
                </a:solidFill>
              </a:rPr>
              <a:t>Example:</a:t>
            </a:r>
          </a:p>
          <a:p>
            <a:pPr marL="457200" lvl="0" indent="-298450" algn="l" rtl="0">
              <a:lnSpc>
                <a:spcPct val="115000"/>
              </a:lnSpc>
              <a:spcBef>
                <a:spcPts val="1200"/>
              </a:spcBef>
              <a:spcAft>
                <a:spcPts val="0"/>
              </a:spcAft>
              <a:buClr>
                <a:schemeClr val="dk1"/>
              </a:buClr>
              <a:buSzPts val="1100"/>
              <a:buChar char="●"/>
            </a:pPr>
            <a:r>
              <a:rPr lang="en-US" sz="1600" dirty="0">
                <a:solidFill>
                  <a:schemeClr val="dk1"/>
                </a:solidFill>
              </a:rPr>
              <a:t>Team A works on </a:t>
            </a:r>
            <a:r>
              <a:rPr lang="en-US" sz="1600" dirty="0">
                <a:solidFill>
                  <a:srgbClr val="188038"/>
                </a:solidFill>
                <a:latin typeface="Roboto Mono"/>
                <a:ea typeface="Roboto Mono"/>
                <a:cs typeface="Roboto Mono"/>
                <a:sym typeface="Roboto Mono"/>
              </a:rPr>
              <a:t>feature-login</a:t>
            </a:r>
            <a:r>
              <a:rPr lang="en-US" sz="1600" dirty="0">
                <a:solidFill>
                  <a:schemeClr val="dk1"/>
                </a:solidFill>
              </a:rPr>
              <a:t>.</a:t>
            </a:r>
          </a:p>
          <a:p>
            <a:pPr marL="457200" lvl="0" indent="-298450" algn="l" rtl="0">
              <a:lnSpc>
                <a:spcPct val="115000"/>
              </a:lnSpc>
              <a:spcBef>
                <a:spcPts val="0"/>
              </a:spcBef>
              <a:spcAft>
                <a:spcPts val="0"/>
              </a:spcAft>
              <a:buClr>
                <a:schemeClr val="dk1"/>
              </a:buClr>
              <a:buSzPts val="1100"/>
              <a:buChar char="●"/>
            </a:pPr>
            <a:r>
              <a:rPr lang="en-US" sz="1600" dirty="0">
                <a:solidFill>
                  <a:schemeClr val="dk1"/>
                </a:solidFill>
              </a:rPr>
              <a:t>Team B works on </a:t>
            </a:r>
            <a:r>
              <a:rPr lang="en-US" sz="1600" dirty="0">
                <a:solidFill>
                  <a:srgbClr val="188038"/>
                </a:solidFill>
                <a:latin typeface="Roboto Mono"/>
                <a:ea typeface="Roboto Mono"/>
                <a:cs typeface="Roboto Mono"/>
                <a:sym typeface="Roboto Mono"/>
              </a:rPr>
              <a:t>feature-payment</a:t>
            </a:r>
            <a:r>
              <a:rPr lang="en-US" sz="1600" dirty="0">
                <a:solidFill>
                  <a:schemeClr val="dk1"/>
                </a:solidFill>
              </a:rPr>
              <a:t>.</a:t>
            </a:r>
          </a:p>
          <a:p>
            <a:pPr marL="457200" lvl="0" indent="-298450" algn="l" rtl="0">
              <a:lnSpc>
                <a:spcPct val="115000"/>
              </a:lnSpc>
              <a:spcBef>
                <a:spcPts val="0"/>
              </a:spcBef>
              <a:spcAft>
                <a:spcPts val="0"/>
              </a:spcAft>
              <a:buClr>
                <a:schemeClr val="dk1"/>
              </a:buClr>
              <a:buSzPts val="1100"/>
              <a:buChar char="●"/>
            </a:pPr>
            <a:r>
              <a:rPr lang="en-US" sz="1600" dirty="0">
                <a:solidFill>
                  <a:schemeClr val="dk1"/>
                </a:solidFill>
              </a:rPr>
              <a:t>Git allows both teams to work independently and later merge changes.</a:t>
            </a:r>
          </a:p>
        </p:txBody>
      </p:sp>
    </p:spTree>
    <p:extLst>
      <p:ext uri="{BB962C8B-B14F-4D97-AF65-F5344CB8AC3E}">
        <p14:creationId xmlns:p14="http://schemas.microsoft.com/office/powerpoint/2010/main" val="2918839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Introduction to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2" name="TextBox 1">
            <a:extLst>
              <a:ext uri="{FF2B5EF4-FFF2-40B4-BE49-F238E27FC236}">
                <a16:creationId xmlns:a16="http://schemas.microsoft.com/office/drawing/2014/main" id="{B2B9D6FA-2F8B-32F6-6D36-8C285C5425A9}"/>
              </a:ext>
            </a:extLst>
          </p:cNvPr>
          <p:cNvSpPr txBox="1"/>
          <p:nvPr/>
        </p:nvSpPr>
        <p:spPr>
          <a:xfrm>
            <a:off x="707781" y="1250575"/>
            <a:ext cx="6959959" cy="1569660"/>
          </a:xfrm>
          <a:prstGeom prst="rect">
            <a:avLst/>
          </a:prstGeom>
          <a:noFill/>
        </p:spPr>
        <p:txBody>
          <a:bodyPr wrap="square">
            <a:spAutoFit/>
          </a:bodyPr>
          <a:lstStyle/>
          <a:p>
            <a:pPr algn="l"/>
            <a:r>
              <a:rPr lang="en-US" sz="2400" b="1" dirty="0"/>
              <a:t>Three Main States:</a:t>
            </a:r>
          </a:p>
          <a:p>
            <a:pPr marL="514350" indent="-514350" algn="l">
              <a:buFont typeface="+mj-lt"/>
              <a:buAutoNum type="arabicPeriod"/>
            </a:pPr>
            <a:r>
              <a:rPr lang="en-US" sz="2400" dirty="0"/>
              <a:t>Modified → file changed</a:t>
            </a:r>
          </a:p>
          <a:p>
            <a:pPr marL="514350" indent="-514350" algn="l">
              <a:buFont typeface="+mj-lt"/>
              <a:buAutoNum type="arabicPeriod"/>
            </a:pPr>
            <a:r>
              <a:rPr lang="en-US" sz="2400" dirty="0"/>
              <a:t>Staged → selected for the next commit</a:t>
            </a:r>
          </a:p>
          <a:p>
            <a:pPr marL="514350" indent="-514350" algn="l">
              <a:buFont typeface="+mj-lt"/>
              <a:buAutoNum type="arabicPeriod"/>
            </a:pPr>
            <a:r>
              <a:rPr lang="en-US" sz="2400" dirty="0"/>
              <a:t>Committed → safely stored in the local repository</a:t>
            </a:r>
          </a:p>
        </p:txBody>
      </p:sp>
      <p:sp>
        <p:nvSpPr>
          <p:cNvPr id="7" name="TextBox 6">
            <a:extLst>
              <a:ext uri="{FF2B5EF4-FFF2-40B4-BE49-F238E27FC236}">
                <a16:creationId xmlns:a16="http://schemas.microsoft.com/office/drawing/2014/main" id="{6A6F0815-4165-9EDD-765A-BF4D35D3AA2F}"/>
              </a:ext>
            </a:extLst>
          </p:cNvPr>
          <p:cNvSpPr txBox="1"/>
          <p:nvPr/>
        </p:nvSpPr>
        <p:spPr>
          <a:xfrm>
            <a:off x="707781" y="3239408"/>
            <a:ext cx="6959958" cy="3046988"/>
          </a:xfrm>
          <a:prstGeom prst="rect">
            <a:avLst/>
          </a:prstGeom>
          <a:noFill/>
        </p:spPr>
        <p:txBody>
          <a:bodyPr wrap="square">
            <a:spAutoFit/>
          </a:bodyPr>
          <a:lstStyle/>
          <a:p>
            <a:r>
              <a:rPr lang="en-PS" sz="2400" b="1" dirty="0"/>
              <a:t>The basic Git workflow:</a:t>
            </a:r>
          </a:p>
          <a:p>
            <a:pPr marL="342900" indent="-342900">
              <a:buFont typeface="+mj-lt"/>
              <a:buAutoNum type="arabicPeriod"/>
            </a:pPr>
            <a:r>
              <a:rPr lang="en-PS" sz="2400" dirty="0"/>
              <a:t>You modify files in your working tree.</a:t>
            </a:r>
          </a:p>
          <a:p>
            <a:pPr marL="342900" indent="-342900">
              <a:buFont typeface="+mj-lt"/>
              <a:buAutoNum type="arabicPeriod"/>
            </a:pPr>
            <a:r>
              <a:rPr lang="en-PS" sz="2400" dirty="0"/>
              <a:t>You selectively stage just those changes you want to be part of your next commit, which adds only those changes to the staging area.</a:t>
            </a:r>
          </a:p>
          <a:p>
            <a:pPr marL="342900" indent="-342900">
              <a:buFont typeface="+mj-lt"/>
              <a:buAutoNum type="arabicPeriod"/>
            </a:pPr>
            <a:r>
              <a:rPr lang="en-PS" sz="2400" dirty="0"/>
              <a:t>You do a commit, which takes the files as they are in the staging area and stores that snapshot permanently to your Git directory.</a:t>
            </a:r>
          </a:p>
        </p:txBody>
      </p:sp>
    </p:spTree>
    <p:extLst>
      <p:ext uri="{BB962C8B-B14F-4D97-AF65-F5344CB8AC3E}">
        <p14:creationId xmlns:p14="http://schemas.microsoft.com/office/powerpoint/2010/main" val="1892550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Introduction to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pic>
        <p:nvPicPr>
          <p:cNvPr id="6" name="Picture 5">
            <a:extLst>
              <a:ext uri="{FF2B5EF4-FFF2-40B4-BE49-F238E27FC236}">
                <a16:creationId xmlns:a16="http://schemas.microsoft.com/office/drawing/2014/main" id="{1800C531-6AB6-27D8-2498-6089977D9B24}"/>
              </a:ext>
            </a:extLst>
          </p:cNvPr>
          <p:cNvPicPr>
            <a:picLocks noChangeAspect="1"/>
          </p:cNvPicPr>
          <p:nvPr/>
        </p:nvPicPr>
        <p:blipFill>
          <a:blip r:embed="rId4"/>
          <a:stretch>
            <a:fillRect/>
          </a:stretch>
        </p:blipFill>
        <p:spPr>
          <a:xfrm>
            <a:off x="1961844" y="1641586"/>
            <a:ext cx="7772400" cy="3881818"/>
          </a:xfrm>
          <a:prstGeom prst="rect">
            <a:avLst/>
          </a:prstGeom>
        </p:spPr>
      </p:pic>
    </p:spTree>
    <p:extLst>
      <p:ext uri="{BB962C8B-B14F-4D97-AF65-F5344CB8AC3E}">
        <p14:creationId xmlns:p14="http://schemas.microsoft.com/office/powerpoint/2010/main" val="815531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Install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7" name="TextBox 6">
            <a:extLst>
              <a:ext uri="{FF2B5EF4-FFF2-40B4-BE49-F238E27FC236}">
                <a16:creationId xmlns:a16="http://schemas.microsoft.com/office/drawing/2014/main" id="{6A6F0815-4165-9EDD-765A-BF4D35D3AA2F}"/>
              </a:ext>
            </a:extLst>
          </p:cNvPr>
          <p:cNvSpPr txBox="1"/>
          <p:nvPr/>
        </p:nvSpPr>
        <p:spPr>
          <a:xfrm>
            <a:off x="707781" y="3035239"/>
            <a:ext cx="10660688" cy="369332"/>
          </a:xfrm>
          <a:prstGeom prst="rect">
            <a:avLst/>
          </a:prstGeom>
          <a:noFill/>
        </p:spPr>
        <p:txBody>
          <a:bodyPr wrap="square">
            <a:spAutoFit/>
          </a:bodyPr>
          <a:lstStyle/>
          <a:p>
            <a:r>
              <a:rPr lang="en-US" b="0" i="0" u="none" strike="noStrike" dirty="0">
                <a:solidFill>
                  <a:srgbClr val="000000"/>
                </a:solidFill>
                <a:effectLst/>
                <a:latin typeface="Segoe UI" panose="020B0502040204020203" pitchFamily="34" charset="0"/>
              </a:rPr>
              <a:t>After installation, you will be able to use Git from your terminal or command prompt.</a:t>
            </a:r>
            <a:endParaRPr lang="en-PS" dirty="0"/>
          </a:p>
        </p:txBody>
      </p:sp>
      <p:sp>
        <p:nvSpPr>
          <p:cNvPr id="6" name="TextBox 5">
            <a:extLst>
              <a:ext uri="{FF2B5EF4-FFF2-40B4-BE49-F238E27FC236}">
                <a16:creationId xmlns:a16="http://schemas.microsoft.com/office/drawing/2014/main" id="{423821F9-5838-B89E-B509-D6D81D8E460D}"/>
              </a:ext>
            </a:extLst>
          </p:cNvPr>
          <p:cNvSpPr txBox="1"/>
          <p:nvPr/>
        </p:nvSpPr>
        <p:spPr>
          <a:xfrm>
            <a:off x="707781" y="1819815"/>
            <a:ext cx="10660688" cy="907941"/>
          </a:xfrm>
          <a:prstGeom prst="rect">
            <a:avLst/>
          </a:prstGeom>
          <a:noFill/>
        </p:spPr>
        <p:txBody>
          <a:bodyPr wrap="square">
            <a:spAutoFit/>
          </a:bodyPr>
          <a:lstStyle/>
          <a:p>
            <a:pPr marL="342900" indent="-342900">
              <a:spcBef>
                <a:spcPts val="640"/>
              </a:spcBef>
              <a:buClr>
                <a:schemeClr val="dk1"/>
              </a:buClr>
              <a:buSzPts val="3200"/>
              <a:buFontTx/>
              <a:buChar char="●"/>
            </a:pPr>
            <a:r>
              <a:rPr lang="en-US" sz="2400" b="0" i="0" u="none" strike="noStrike" dirty="0">
                <a:solidFill>
                  <a:srgbClr val="000000"/>
                </a:solidFill>
                <a:effectLst/>
                <a:latin typeface="Segoe UI" panose="020B0502040204020203" pitchFamily="34" charset="0"/>
              </a:rPr>
              <a:t>You can download Git for free from </a:t>
            </a:r>
            <a:r>
              <a:rPr lang="en-US" sz="2400" b="0" i="0" dirty="0">
                <a:effectLst/>
                <a:latin typeface="Segoe UI" panose="020B0502040204020203" pitchFamily="34" charset="0"/>
                <a:hlinkClick r:id="rId4"/>
              </a:rPr>
              <a:t>git-scm.com</a:t>
            </a:r>
            <a:r>
              <a:rPr lang="en-US" sz="2400" b="0" i="0" u="none" strike="noStrike" dirty="0">
                <a:solidFill>
                  <a:srgbClr val="000000"/>
                </a:solidFill>
                <a:effectLst/>
                <a:latin typeface="Segoe UI" panose="020B0502040204020203" pitchFamily="34" charset="0"/>
              </a:rPr>
              <a:t>.</a:t>
            </a:r>
            <a:endParaRPr lang="en-US" sz="2400" dirty="0">
              <a:sym typeface="Calibri"/>
            </a:endParaRPr>
          </a:p>
          <a:p>
            <a:pPr marL="342900" lvl="0" indent="-342900" algn="l" rtl="0">
              <a:spcBef>
                <a:spcPts val="640"/>
              </a:spcBef>
              <a:spcAft>
                <a:spcPts val="0"/>
              </a:spcAft>
              <a:buClr>
                <a:schemeClr val="dk1"/>
              </a:buClr>
              <a:buSzPts val="3200"/>
              <a:buChar char="●"/>
            </a:pPr>
            <a:r>
              <a:rPr lang="en-US" sz="2400" dirty="0">
                <a:sym typeface="Calibri"/>
              </a:rPr>
              <a:t>Install package based on OS (Windows, macOS, Linux)</a:t>
            </a:r>
            <a:endParaRPr lang="en-US" sz="2400" dirty="0"/>
          </a:p>
        </p:txBody>
      </p:sp>
      <p:sp>
        <p:nvSpPr>
          <p:cNvPr id="11" name="TextBox 10">
            <a:extLst>
              <a:ext uri="{FF2B5EF4-FFF2-40B4-BE49-F238E27FC236}">
                <a16:creationId xmlns:a16="http://schemas.microsoft.com/office/drawing/2014/main" id="{2B217D74-1932-E4AA-F9D1-28A5D2E1091F}"/>
              </a:ext>
            </a:extLst>
          </p:cNvPr>
          <p:cNvSpPr txBox="1"/>
          <p:nvPr/>
        </p:nvSpPr>
        <p:spPr>
          <a:xfrm>
            <a:off x="707781" y="3527388"/>
            <a:ext cx="6147412" cy="369332"/>
          </a:xfrm>
          <a:prstGeom prst="rect">
            <a:avLst/>
          </a:prstGeom>
          <a:noFill/>
        </p:spPr>
        <p:txBody>
          <a:bodyPr wrap="square">
            <a:spAutoFit/>
          </a:bodyPr>
          <a:lstStyle/>
          <a:p>
            <a:r>
              <a:rPr lang="en-PS" b="1" dirty="0"/>
              <a:t>Verify installation:</a:t>
            </a:r>
          </a:p>
        </p:txBody>
      </p:sp>
      <p:sp>
        <p:nvSpPr>
          <p:cNvPr id="13" name="Rounded Rectangle 12">
            <a:extLst>
              <a:ext uri="{FF2B5EF4-FFF2-40B4-BE49-F238E27FC236}">
                <a16:creationId xmlns:a16="http://schemas.microsoft.com/office/drawing/2014/main" id="{718B0820-7363-0149-E341-D037C914ADFF}"/>
              </a:ext>
            </a:extLst>
          </p:cNvPr>
          <p:cNvSpPr/>
          <p:nvPr/>
        </p:nvSpPr>
        <p:spPr>
          <a:xfrm>
            <a:off x="707781" y="4019535"/>
            <a:ext cx="6728605" cy="789607"/>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--version</a:t>
            </a:r>
          </a:p>
        </p:txBody>
      </p:sp>
      <p:sp>
        <p:nvSpPr>
          <p:cNvPr id="16" name="TextBox 15">
            <a:extLst>
              <a:ext uri="{FF2B5EF4-FFF2-40B4-BE49-F238E27FC236}">
                <a16:creationId xmlns:a16="http://schemas.microsoft.com/office/drawing/2014/main" id="{F44D87FB-5C0F-6EAA-2476-F95AC0F2AE6C}"/>
              </a:ext>
            </a:extLst>
          </p:cNvPr>
          <p:cNvSpPr txBox="1"/>
          <p:nvPr/>
        </p:nvSpPr>
        <p:spPr>
          <a:xfrm>
            <a:off x="707781" y="4931959"/>
            <a:ext cx="6147412" cy="369333"/>
          </a:xfrm>
          <a:prstGeom prst="rect">
            <a:avLst/>
          </a:prstGeom>
          <a:noFill/>
        </p:spPr>
        <p:txBody>
          <a:bodyPr wrap="square">
            <a:spAutoFit/>
          </a:bodyPr>
          <a:lstStyle/>
          <a:p>
            <a:r>
              <a:rPr lang="en-US" b="1" dirty="0"/>
              <a:t>Expected output:</a:t>
            </a:r>
            <a:endParaRPr lang="en-PS" b="1" dirty="0"/>
          </a:p>
        </p:txBody>
      </p:sp>
      <p:sp>
        <p:nvSpPr>
          <p:cNvPr id="17" name="Rounded Rectangle 16">
            <a:extLst>
              <a:ext uri="{FF2B5EF4-FFF2-40B4-BE49-F238E27FC236}">
                <a16:creationId xmlns:a16="http://schemas.microsoft.com/office/drawing/2014/main" id="{00CE3C76-FCAF-6824-1DE8-35C14CBC650B}"/>
              </a:ext>
            </a:extLst>
          </p:cNvPr>
          <p:cNvSpPr/>
          <p:nvPr/>
        </p:nvSpPr>
        <p:spPr>
          <a:xfrm>
            <a:off x="707781" y="5424108"/>
            <a:ext cx="6728605" cy="789607"/>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dirty="0">
              <a:solidFill>
                <a:srgbClr val="7030A0"/>
              </a:solidFill>
              <a:latin typeface="Consolas" panose="020B0609020204030204" pitchFamily="49" charset="0"/>
              <a:cs typeface="Consolas" panose="020B0609020204030204" pitchFamily="49" charset="0"/>
            </a:endParaRPr>
          </a:p>
          <a:p>
            <a:pPr rtl="0"/>
            <a:r>
              <a:rPr lang="en-US" sz="1400" dirty="0">
                <a:latin typeface="Consolas" panose="020B0609020204030204" pitchFamily="49" charset="0"/>
                <a:cs typeface="Consolas" panose="020B0609020204030204" pitchFamily="49" charset="0"/>
              </a:rPr>
              <a:t>git version 2.45.1</a:t>
            </a:r>
          </a:p>
        </p:txBody>
      </p:sp>
    </p:spTree>
    <p:extLst>
      <p:ext uri="{BB962C8B-B14F-4D97-AF65-F5344CB8AC3E}">
        <p14:creationId xmlns:p14="http://schemas.microsoft.com/office/powerpoint/2010/main" val="2507111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Configure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11" name="TextBox 10">
            <a:extLst>
              <a:ext uri="{FF2B5EF4-FFF2-40B4-BE49-F238E27FC236}">
                <a16:creationId xmlns:a16="http://schemas.microsoft.com/office/drawing/2014/main" id="{2B217D74-1932-E4AA-F9D1-28A5D2E1091F}"/>
              </a:ext>
            </a:extLst>
          </p:cNvPr>
          <p:cNvSpPr txBox="1"/>
          <p:nvPr/>
        </p:nvSpPr>
        <p:spPr>
          <a:xfrm>
            <a:off x="707781" y="2546887"/>
            <a:ext cx="6147412" cy="369332"/>
          </a:xfrm>
          <a:prstGeom prst="rect">
            <a:avLst/>
          </a:prstGeom>
          <a:noFill/>
        </p:spPr>
        <p:txBody>
          <a:bodyPr wrap="square">
            <a:spAutoFit/>
          </a:bodyPr>
          <a:lstStyle/>
          <a:p>
            <a:r>
              <a:rPr lang="en-PS" b="1" dirty="0"/>
              <a:t>Set your user name:</a:t>
            </a:r>
          </a:p>
        </p:txBody>
      </p:sp>
      <p:sp>
        <p:nvSpPr>
          <p:cNvPr id="13" name="Rounded Rectangle 12">
            <a:extLst>
              <a:ext uri="{FF2B5EF4-FFF2-40B4-BE49-F238E27FC236}">
                <a16:creationId xmlns:a16="http://schemas.microsoft.com/office/drawing/2014/main" id="{718B0820-7363-0149-E341-D037C914ADFF}"/>
              </a:ext>
            </a:extLst>
          </p:cNvPr>
          <p:cNvSpPr/>
          <p:nvPr/>
        </p:nvSpPr>
        <p:spPr>
          <a:xfrm>
            <a:off x="707781" y="3039033"/>
            <a:ext cx="6728605" cy="789608"/>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config</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--global</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bg1"/>
                </a:solidFill>
                <a:latin typeface="Consolas" panose="020B0609020204030204" pitchFamily="49" charset="0"/>
                <a:cs typeface="Consolas" panose="020B0609020204030204" pitchFamily="49" charset="0"/>
              </a:rPr>
              <a:t>user.name</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accent6">
                    <a:lumMod val="75000"/>
                  </a:schemeClr>
                </a:solidFill>
                <a:latin typeface="Consolas" panose="020B0609020204030204" pitchFamily="49" charset="0"/>
                <a:cs typeface="Consolas" panose="020B0609020204030204" pitchFamily="49" charset="0"/>
              </a:rPr>
              <a:t>“Amjad”</a:t>
            </a:r>
            <a:r>
              <a:rPr lang="en-PS" sz="1400" dirty="0">
                <a:solidFill>
                  <a:schemeClr val="accent2">
                    <a:lumMod val="75000"/>
                  </a:schemeClr>
                </a:solidFill>
                <a:latin typeface="Consolas" panose="020B0609020204030204" pitchFamily="49" charset="0"/>
                <a:cs typeface="Consolas" panose="020B0609020204030204" pitchFamily="49" charset="0"/>
              </a:rPr>
              <a:t> </a:t>
            </a:r>
          </a:p>
        </p:txBody>
      </p:sp>
      <p:sp>
        <p:nvSpPr>
          <p:cNvPr id="16" name="TextBox 15">
            <a:extLst>
              <a:ext uri="{FF2B5EF4-FFF2-40B4-BE49-F238E27FC236}">
                <a16:creationId xmlns:a16="http://schemas.microsoft.com/office/drawing/2014/main" id="{F44D87FB-5C0F-6EAA-2476-F95AC0F2AE6C}"/>
              </a:ext>
            </a:extLst>
          </p:cNvPr>
          <p:cNvSpPr txBox="1"/>
          <p:nvPr/>
        </p:nvSpPr>
        <p:spPr>
          <a:xfrm>
            <a:off x="707781" y="3951458"/>
            <a:ext cx="6147412" cy="369333"/>
          </a:xfrm>
          <a:prstGeom prst="rect">
            <a:avLst/>
          </a:prstGeom>
          <a:noFill/>
        </p:spPr>
        <p:txBody>
          <a:bodyPr wrap="square">
            <a:spAutoFit/>
          </a:bodyPr>
          <a:lstStyle/>
          <a:p>
            <a:r>
              <a:rPr lang="en-US" b="1" dirty="0"/>
              <a:t>Set your email:</a:t>
            </a:r>
            <a:endParaRPr lang="en-PS" b="1" dirty="0"/>
          </a:p>
        </p:txBody>
      </p:sp>
      <p:sp>
        <p:nvSpPr>
          <p:cNvPr id="17" name="Rounded Rectangle 16">
            <a:extLst>
              <a:ext uri="{FF2B5EF4-FFF2-40B4-BE49-F238E27FC236}">
                <a16:creationId xmlns:a16="http://schemas.microsoft.com/office/drawing/2014/main" id="{00CE3C76-FCAF-6824-1DE8-35C14CBC650B}"/>
              </a:ext>
            </a:extLst>
          </p:cNvPr>
          <p:cNvSpPr/>
          <p:nvPr/>
        </p:nvSpPr>
        <p:spPr>
          <a:xfrm>
            <a:off x="707781" y="4443606"/>
            <a:ext cx="6728605" cy="789608"/>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dirty="0">
              <a:solidFill>
                <a:srgbClr val="7030A0"/>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config</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--global</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bg1"/>
                </a:solidFill>
                <a:latin typeface="Consolas" panose="020B0609020204030204" pitchFamily="49" charset="0"/>
                <a:cs typeface="Consolas" panose="020B0609020204030204" pitchFamily="49" charset="0"/>
              </a:rPr>
              <a:t>user.email</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accent6">
                    <a:lumMod val="75000"/>
                  </a:schemeClr>
                </a:solidFill>
                <a:latin typeface="Consolas" panose="020B0609020204030204" pitchFamily="49" charset="0"/>
                <a:cs typeface="Consolas" panose="020B0609020204030204" pitchFamily="49" charset="0"/>
              </a:rPr>
              <a:t>“amjad@example.com”</a:t>
            </a:r>
            <a:r>
              <a:rPr lang="en-PS" sz="1400" dirty="0">
                <a:solidFill>
                  <a:schemeClr val="accent2">
                    <a:lumMod val="75000"/>
                  </a:schemeClr>
                </a:solidFill>
                <a:latin typeface="Consolas" panose="020B0609020204030204" pitchFamily="49" charset="0"/>
                <a:cs typeface="Consolas" panose="020B0609020204030204" pitchFamily="49" charset="0"/>
              </a:rPr>
              <a:t> </a:t>
            </a:r>
          </a:p>
        </p:txBody>
      </p:sp>
      <p:sp>
        <p:nvSpPr>
          <p:cNvPr id="3" name="TextBox 2">
            <a:extLst>
              <a:ext uri="{FF2B5EF4-FFF2-40B4-BE49-F238E27FC236}">
                <a16:creationId xmlns:a16="http://schemas.microsoft.com/office/drawing/2014/main" id="{D8AEE031-6BD8-A826-301C-A4257AD88C00}"/>
              </a:ext>
            </a:extLst>
          </p:cNvPr>
          <p:cNvSpPr txBox="1"/>
          <p:nvPr/>
        </p:nvSpPr>
        <p:spPr>
          <a:xfrm>
            <a:off x="823531" y="1234745"/>
            <a:ext cx="10544938" cy="1200329"/>
          </a:xfrm>
          <a:prstGeom prst="rect">
            <a:avLst/>
          </a:prstGeom>
          <a:noFill/>
        </p:spPr>
        <p:txBody>
          <a:bodyPr wrap="square">
            <a:spAutoFit/>
          </a:bodyPr>
          <a:lstStyle/>
          <a:p>
            <a:r>
              <a:rPr lang="en-PS" sz="2400" dirty="0"/>
              <a:t>The first thing you should do when you install Git is to set your user name and email address. This is important because every Git commit uses this information, and it’s immutably baked into the commits you start creating.</a:t>
            </a:r>
          </a:p>
        </p:txBody>
      </p:sp>
      <p:sp>
        <p:nvSpPr>
          <p:cNvPr id="8" name="TextBox 7">
            <a:extLst>
              <a:ext uri="{FF2B5EF4-FFF2-40B4-BE49-F238E27FC236}">
                <a16:creationId xmlns:a16="http://schemas.microsoft.com/office/drawing/2014/main" id="{E3759FBE-C28B-8104-AE8F-05B556509A72}"/>
              </a:ext>
            </a:extLst>
          </p:cNvPr>
          <p:cNvSpPr txBox="1"/>
          <p:nvPr/>
        </p:nvSpPr>
        <p:spPr>
          <a:xfrm>
            <a:off x="707781" y="5356029"/>
            <a:ext cx="6147412" cy="369333"/>
          </a:xfrm>
          <a:prstGeom prst="rect">
            <a:avLst/>
          </a:prstGeom>
          <a:noFill/>
        </p:spPr>
        <p:txBody>
          <a:bodyPr wrap="square">
            <a:spAutoFit/>
          </a:bodyPr>
          <a:lstStyle/>
          <a:p>
            <a:r>
              <a:rPr lang="en-US" b="1" dirty="0"/>
              <a:t>Verify the configuration:</a:t>
            </a:r>
            <a:endParaRPr lang="en-PS" b="1" dirty="0"/>
          </a:p>
        </p:txBody>
      </p:sp>
      <p:sp>
        <p:nvSpPr>
          <p:cNvPr id="9" name="Rounded Rectangle 8">
            <a:extLst>
              <a:ext uri="{FF2B5EF4-FFF2-40B4-BE49-F238E27FC236}">
                <a16:creationId xmlns:a16="http://schemas.microsoft.com/office/drawing/2014/main" id="{BB335BBC-F58C-9944-6009-B54FDD009BC9}"/>
              </a:ext>
            </a:extLst>
          </p:cNvPr>
          <p:cNvSpPr/>
          <p:nvPr/>
        </p:nvSpPr>
        <p:spPr>
          <a:xfrm>
            <a:off x="707781" y="5848177"/>
            <a:ext cx="6728605" cy="789608"/>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dirty="0">
              <a:solidFill>
                <a:srgbClr val="7030A0"/>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config</a:t>
            </a:r>
            <a:r>
              <a:rPr lang="en-PS" sz="1400" dirty="0">
                <a:solidFill>
                  <a:schemeClr val="accent2">
                    <a:lumMod val="75000"/>
                  </a:schemeClr>
                </a:solidFill>
                <a:latin typeface="Consolas" panose="020B0609020204030204" pitchFamily="49" charset="0"/>
                <a:cs typeface="Consolas" panose="020B0609020204030204" pitchFamily="49" charset="0"/>
              </a:rPr>
              <a: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--list</a:t>
            </a:r>
          </a:p>
        </p:txBody>
      </p:sp>
    </p:spTree>
    <p:extLst>
      <p:ext uri="{BB962C8B-B14F-4D97-AF65-F5344CB8AC3E}">
        <p14:creationId xmlns:p14="http://schemas.microsoft.com/office/powerpoint/2010/main" val="811737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Getting help with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13" name="Rounded Rectangle 12">
            <a:extLst>
              <a:ext uri="{FF2B5EF4-FFF2-40B4-BE49-F238E27FC236}">
                <a16:creationId xmlns:a16="http://schemas.microsoft.com/office/drawing/2014/main" id="{718B0820-7363-0149-E341-D037C914ADFF}"/>
              </a:ext>
            </a:extLst>
          </p:cNvPr>
          <p:cNvSpPr/>
          <p:nvPr/>
        </p:nvSpPr>
        <p:spPr>
          <a:xfrm>
            <a:off x="823531" y="2333954"/>
            <a:ext cx="6728605" cy="1246528"/>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help &lt;command&gt;</a:t>
            </a: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&lt;command&gt;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--help</a:t>
            </a:r>
          </a:p>
          <a:p>
            <a:r>
              <a:rPr lang="en-PS" sz="1400" dirty="0">
                <a:solidFill>
                  <a:srgbClr val="7030A0"/>
                </a:solidFill>
                <a:latin typeface="Consolas" panose="020B0609020204030204" pitchFamily="49" charset="0"/>
                <a:cs typeface="Consolas" panose="020B0609020204030204" pitchFamily="49" charset="0"/>
              </a:rPr>
              <a:t>$ man </a:t>
            </a:r>
            <a:r>
              <a:rPr lang="en-PS" sz="1400" dirty="0">
                <a:solidFill>
                  <a:schemeClr val="bg1"/>
                </a:solidFill>
                <a:latin typeface="Consolas" panose="020B0609020204030204" pitchFamily="49" charset="0"/>
                <a:cs typeface="Consolas" panose="020B0609020204030204" pitchFamily="49" charset="0"/>
              </a:rPr>
              <a:t>git-&lt;command&gt;</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D8AEE031-6BD8-A826-301C-A4257AD88C00}"/>
              </a:ext>
            </a:extLst>
          </p:cNvPr>
          <p:cNvSpPr txBox="1"/>
          <p:nvPr/>
        </p:nvSpPr>
        <p:spPr>
          <a:xfrm>
            <a:off x="823531" y="1234745"/>
            <a:ext cx="10544938" cy="830997"/>
          </a:xfrm>
          <a:prstGeom prst="rect">
            <a:avLst/>
          </a:prstGeom>
          <a:noFill/>
        </p:spPr>
        <p:txBody>
          <a:bodyPr wrap="square">
            <a:spAutoFit/>
          </a:bodyPr>
          <a:lstStyle/>
          <a:p>
            <a:r>
              <a:rPr lang="en-US" sz="2400" dirty="0"/>
              <a:t>If you ever need help while using Git, there are three equivalent ways to get the comprehensive manual page (</a:t>
            </a:r>
            <a:r>
              <a:rPr lang="en-US" sz="2400" dirty="0" err="1"/>
              <a:t>manpage</a:t>
            </a:r>
            <a:r>
              <a:rPr lang="en-US" sz="2400" dirty="0"/>
              <a:t>) help for any of the Git commands:</a:t>
            </a:r>
            <a:endParaRPr lang="en-PS" sz="2400" dirty="0"/>
          </a:p>
        </p:txBody>
      </p:sp>
      <p:sp>
        <p:nvSpPr>
          <p:cNvPr id="6" name="TextBox 5">
            <a:extLst>
              <a:ext uri="{FF2B5EF4-FFF2-40B4-BE49-F238E27FC236}">
                <a16:creationId xmlns:a16="http://schemas.microsoft.com/office/drawing/2014/main" id="{C1D60F60-BE89-534B-D5A2-23AE64609179}"/>
              </a:ext>
            </a:extLst>
          </p:cNvPr>
          <p:cNvSpPr txBox="1"/>
          <p:nvPr/>
        </p:nvSpPr>
        <p:spPr>
          <a:xfrm>
            <a:off x="823531" y="3848694"/>
            <a:ext cx="6147412" cy="369332"/>
          </a:xfrm>
          <a:prstGeom prst="rect">
            <a:avLst/>
          </a:prstGeom>
          <a:noFill/>
        </p:spPr>
        <p:txBody>
          <a:bodyPr wrap="square">
            <a:spAutoFit/>
          </a:bodyPr>
          <a:lstStyle/>
          <a:p>
            <a:r>
              <a:rPr lang="en-US" sz="1800" b="1" dirty="0"/>
              <a:t>Example:</a:t>
            </a:r>
            <a:endParaRPr lang="en-PS" sz="1800" b="1" dirty="0"/>
          </a:p>
        </p:txBody>
      </p:sp>
      <p:sp>
        <p:nvSpPr>
          <p:cNvPr id="7" name="Rounded Rectangle 6">
            <a:extLst>
              <a:ext uri="{FF2B5EF4-FFF2-40B4-BE49-F238E27FC236}">
                <a16:creationId xmlns:a16="http://schemas.microsoft.com/office/drawing/2014/main" id="{D204FC78-2953-F5DB-6DEA-8E927B658532}"/>
              </a:ext>
            </a:extLst>
          </p:cNvPr>
          <p:cNvSpPr/>
          <p:nvPr/>
        </p:nvSpPr>
        <p:spPr>
          <a:xfrm>
            <a:off x="823530" y="4384775"/>
            <a:ext cx="6728605" cy="830997"/>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help config</a:t>
            </a:r>
          </a:p>
        </p:txBody>
      </p:sp>
    </p:spTree>
    <p:extLst>
      <p:ext uri="{BB962C8B-B14F-4D97-AF65-F5344CB8AC3E}">
        <p14:creationId xmlns:p14="http://schemas.microsoft.com/office/powerpoint/2010/main" val="1846837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Getting Started with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13" name="Rounded Rectangle 12">
            <a:extLst>
              <a:ext uri="{FF2B5EF4-FFF2-40B4-BE49-F238E27FC236}">
                <a16:creationId xmlns:a16="http://schemas.microsoft.com/office/drawing/2014/main" id="{718B0820-7363-0149-E341-D037C914ADFF}"/>
              </a:ext>
            </a:extLst>
          </p:cNvPr>
          <p:cNvSpPr/>
          <p:nvPr/>
        </p:nvSpPr>
        <p:spPr>
          <a:xfrm>
            <a:off x="823531" y="3567843"/>
            <a:ext cx="6728605" cy="916022"/>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cd </a:t>
            </a:r>
            <a:r>
              <a:rPr lang="en-PS" sz="1400" dirty="0">
                <a:solidFill>
                  <a:schemeClr val="bg1"/>
                </a:solidFill>
                <a:latin typeface="Consolas" panose="020B0609020204030204" pitchFamily="49" charset="0"/>
                <a:cs typeface="Consolas" panose="020B0609020204030204" pitchFamily="49" charset="0"/>
              </a:rPr>
              <a:t>path/to/the/directory</a:t>
            </a: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bg1"/>
                </a:solidFill>
                <a:latin typeface="Consolas" panose="020B0609020204030204" pitchFamily="49" charset="0"/>
                <a:cs typeface="Consolas" panose="020B0609020204030204" pitchFamily="49" charset="0"/>
              </a:rPr>
              <a:t>init</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3" name="TextBox 2">
            <a:extLst>
              <a:ext uri="{FF2B5EF4-FFF2-40B4-BE49-F238E27FC236}">
                <a16:creationId xmlns:a16="http://schemas.microsoft.com/office/drawing/2014/main" id="{D8AEE031-6BD8-A826-301C-A4257AD88C00}"/>
              </a:ext>
            </a:extLst>
          </p:cNvPr>
          <p:cNvSpPr txBox="1"/>
          <p:nvPr/>
        </p:nvSpPr>
        <p:spPr>
          <a:xfrm>
            <a:off x="823531" y="1234745"/>
            <a:ext cx="10544938" cy="1569660"/>
          </a:xfrm>
          <a:prstGeom prst="rect">
            <a:avLst/>
          </a:prstGeom>
          <a:noFill/>
        </p:spPr>
        <p:txBody>
          <a:bodyPr wrap="square">
            <a:spAutoFit/>
          </a:bodyPr>
          <a:lstStyle/>
          <a:p>
            <a:pPr algn="l"/>
            <a:r>
              <a:rPr lang="en-US" sz="2400" b="1" dirty="0"/>
              <a:t>You typically obtain a Git repository in one of two ways:</a:t>
            </a:r>
          </a:p>
          <a:p>
            <a:pPr marL="514350" indent="-514350" algn="l">
              <a:buFont typeface="+mj-lt"/>
              <a:buAutoNum type="arabicPeriod"/>
            </a:pPr>
            <a:r>
              <a:rPr lang="en-US" sz="2400" dirty="0"/>
              <a:t>You can take a local directory that is currently not under version control, and turn it into a Git repository, or</a:t>
            </a:r>
          </a:p>
          <a:p>
            <a:pPr marL="514350" indent="-514350" algn="l">
              <a:buFont typeface="+mj-lt"/>
              <a:buAutoNum type="arabicPeriod"/>
            </a:pPr>
            <a:r>
              <a:rPr lang="en-US" sz="2400" dirty="0"/>
              <a:t>You can clone an existing Git repository from elsewhere.</a:t>
            </a:r>
          </a:p>
        </p:txBody>
      </p:sp>
      <p:sp>
        <p:nvSpPr>
          <p:cNvPr id="8" name="TextBox 7">
            <a:extLst>
              <a:ext uri="{FF2B5EF4-FFF2-40B4-BE49-F238E27FC236}">
                <a16:creationId xmlns:a16="http://schemas.microsoft.com/office/drawing/2014/main" id="{D40CC34A-AABF-9C30-87DD-8B9D1490FA8A}"/>
              </a:ext>
            </a:extLst>
          </p:cNvPr>
          <p:cNvSpPr txBox="1"/>
          <p:nvPr/>
        </p:nvSpPr>
        <p:spPr>
          <a:xfrm>
            <a:off x="823531" y="3114247"/>
            <a:ext cx="6147412" cy="369332"/>
          </a:xfrm>
          <a:prstGeom prst="rect">
            <a:avLst/>
          </a:prstGeom>
          <a:noFill/>
        </p:spPr>
        <p:txBody>
          <a:bodyPr wrap="square">
            <a:spAutoFit/>
          </a:bodyPr>
          <a:lstStyle/>
          <a:p>
            <a:r>
              <a:rPr lang="en-PS" b="1" dirty="0"/>
              <a:t>Initializing a Repository in an Existing Directory</a:t>
            </a:r>
          </a:p>
        </p:txBody>
      </p:sp>
      <p:sp>
        <p:nvSpPr>
          <p:cNvPr id="10" name="TextBox 9">
            <a:extLst>
              <a:ext uri="{FF2B5EF4-FFF2-40B4-BE49-F238E27FC236}">
                <a16:creationId xmlns:a16="http://schemas.microsoft.com/office/drawing/2014/main" id="{43FE0001-2386-57D7-D25C-3C6719006B1C}"/>
              </a:ext>
            </a:extLst>
          </p:cNvPr>
          <p:cNvSpPr txBox="1"/>
          <p:nvPr/>
        </p:nvSpPr>
        <p:spPr>
          <a:xfrm>
            <a:off x="823531" y="4869842"/>
            <a:ext cx="6147412" cy="369332"/>
          </a:xfrm>
          <a:prstGeom prst="rect">
            <a:avLst/>
          </a:prstGeom>
          <a:noFill/>
        </p:spPr>
        <p:txBody>
          <a:bodyPr wrap="square">
            <a:spAutoFit/>
          </a:bodyPr>
          <a:lstStyle/>
          <a:p>
            <a:r>
              <a:rPr lang="en-PS" b="1" dirty="0"/>
              <a:t>Cloning an Existing Repository</a:t>
            </a:r>
          </a:p>
        </p:txBody>
      </p:sp>
      <p:sp>
        <p:nvSpPr>
          <p:cNvPr id="11" name="Rounded Rectangle 10">
            <a:extLst>
              <a:ext uri="{FF2B5EF4-FFF2-40B4-BE49-F238E27FC236}">
                <a16:creationId xmlns:a16="http://schemas.microsoft.com/office/drawing/2014/main" id="{254BD623-5B19-D9F5-7055-37597434FF7E}"/>
              </a:ext>
            </a:extLst>
          </p:cNvPr>
          <p:cNvSpPr/>
          <p:nvPr/>
        </p:nvSpPr>
        <p:spPr>
          <a:xfrm>
            <a:off x="823531" y="5247303"/>
            <a:ext cx="6728605" cy="916022"/>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cd </a:t>
            </a:r>
            <a:r>
              <a:rPr lang="en-PS" sz="1400" dirty="0">
                <a:solidFill>
                  <a:schemeClr val="bg1"/>
                </a:solidFill>
                <a:latin typeface="Consolas" panose="020B0609020204030204" pitchFamily="49" charset="0"/>
                <a:cs typeface="Consolas" panose="020B0609020204030204" pitchFamily="49" charset="0"/>
              </a:rPr>
              <a:t>path/to/the/directory</a:t>
            </a: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clone</a:t>
            </a:r>
            <a:r>
              <a:rPr lang="en-PS" sz="1400" dirty="0">
                <a:solidFill>
                  <a:schemeClr val="bg1"/>
                </a:solidFill>
                <a:latin typeface="Consolas" panose="020B0609020204030204" pitchFamily="49" charset="0"/>
                <a:cs typeface="Consolas" panose="020B0609020204030204" pitchFamily="49" charset="0"/>
              </a:rPr>
              <a:t> </a:t>
            </a:r>
            <a:r>
              <a:rPr lang="en-US" sz="1400" dirty="0">
                <a:solidFill>
                  <a:schemeClr val="bg1"/>
                </a:solidFill>
                <a:latin typeface="Consolas" panose="020B0609020204030204" pitchFamily="49" charset="0"/>
                <a:cs typeface="Consolas" panose="020B0609020204030204" pitchFamily="49" charset="0"/>
              </a:rPr>
              <a:t>https://</a:t>
            </a:r>
            <a:r>
              <a:rPr lang="en-US" sz="1400" dirty="0" err="1">
                <a:solidFill>
                  <a:schemeClr val="bg1"/>
                </a:solidFill>
                <a:latin typeface="Consolas" panose="020B0609020204030204" pitchFamily="49" charset="0"/>
                <a:cs typeface="Consolas" panose="020B0609020204030204" pitchFamily="49" charset="0"/>
              </a:rPr>
              <a:t>github.com</a:t>
            </a:r>
            <a:r>
              <a:rPr lang="en-US" sz="1400" dirty="0">
                <a:solidFill>
                  <a:schemeClr val="bg1"/>
                </a:solidFill>
                <a:latin typeface="Consolas" panose="020B0609020204030204" pitchFamily="49" charset="0"/>
                <a:cs typeface="Consolas" panose="020B0609020204030204" pitchFamily="49" charset="0"/>
              </a:rPr>
              <a:t>/libgit2/libgit2</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7124338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New file in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3" name="TextBox 2">
            <a:extLst>
              <a:ext uri="{FF2B5EF4-FFF2-40B4-BE49-F238E27FC236}">
                <a16:creationId xmlns:a16="http://schemas.microsoft.com/office/drawing/2014/main" id="{D8AEE031-6BD8-A826-301C-A4257AD88C00}"/>
              </a:ext>
            </a:extLst>
          </p:cNvPr>
          <p:cNvSpPr txBox="1"/>
          <p:nvPr/>
        </p:nvSpPr>
        <p:spPr>
          <a:xfrm>
            <a:off x="823531" y="2210266"/>
            <a:ext cx="10544938" cy="1200329"/>
          </a:xfrm>
          <a:prstGeom prst="rect">
            <a:avLst/>
          </a:prstGeom>
          <a:noFill/>
        </p:spPr>
        <p:txBody>
          <a:bodyPr wrap="square">
            <a:spAutoFit/>
          </a:bodyPr>
          <a:lstStyle/>
          <a:p>
            <a:pPr marL="342900" lvl="0" indent="-342900" algn="l" rtl="0">
              <a:spcBef>
                <a:spcPts val="0"/>
              </a:spcBef>
              <a:spcAft>
                <a:spcPts val="0"/>
              </a:spcAft>
              <a:buClr>
                <a:schemeClr val="dk1"/>
              </a:buClr>
              <a:buSzPts val="3200"/>
              <a:buFont typeface="Arial" panose="020B0604020202020204" pitchFamily="34" charset="0"/>
              <a:buChar char="•"/>
            </a:pPr>
            <a:r>
              <a:rPr lang="en-US" sz="2400" dirty="0">
                <a:solidFill>
                  <a:schemeClr val="dk1"/>
                </a:solidFill>
              </a:rPr>
              <a:t>When you create a new file, Git doesn’t track it automatically.</a:t>
            </a:r>
          </a:p>
          <a:p>
            <a:pPr marL="342900" lvl="0" indent="-342900" algn="l" rtl="0">
              <a:spcBef>
                <a:spcPts val="0"/>
              </a:spcBef>
              <a:spcAft>
                <a:spcPts val="0"/>
              </a:spcAft>
              <a:buClr>
                <a:schemeClr val="dk1"/>
              </a:buClr>
              <a:buSzPts val="3200"/>
              <a:buFont typeface="Arial" panose="020B0604020202020204" pitchFamily="34" charset="0"/>
              <a:buChar char="•"/>
            </a:pPr>
            <a:r>
              <a:rPr lang="en-US" sz="2400" dirty="0">
                <a:solidFill>
                  <a:schemeClr val="dk1"/>
                </a:solidFill>
              </a:rPr>
              <a:t>Git sees it as Untracked.</a:t>
            </a:r>
            <a:endParaRPr lang="en-US" sz="2400" dirty="0"/>
          </a:p>
          <a:p>
            <a:pPr marL="342900" lvl="0" indent="-342900" algn="l" rtl="0">
              <a:spcBef>
                <a:spcPts val="0"/>
              </a:spcBef>
              <a:spcAft>
                <a:spcPts val="0"/>
              </a:spcAft>
              <a:buClr>
                <a:schemeClr val="dk1"/>
              </a:buClr>
              <a:buSzPts val="3200"/>
              <a:buFont typeface="Arial" panose="020B0604020202020204" pitchFamily="34" charset="0"/>
              <a:buChar char="•"/>
            </a:pPr>
            <a:r>
              <a:rPr lang="en-US" sz="2400" dirty="0">
                <a:solidFill>
                  <a:schemeClr val="dk1"/>
                </a:solidFill>
                <a:latin typeface="Calibri"/>
                <a:ea typeface="Calibri"/>
                <a:cs typeface="Calibri"/>
                <a:sym typeface="Calibri"/>
              </a:rPr>
              <a:t>Check with: git status</a:t>
            </a:r>
            <a:endParaRPr lang="en-US" sz="4000" dirty="0">
              <a:sym typeface="Calibri"/>
            </a:endParaRPr>
          </a:p>
        </p:txBody>
      </p:sp>
      <p:sp>
        <p:nvSpPr>
          <p:cNvPr id="10" name="TextBox 9">
            <a:extLst>
              <a:ext uri="{FF2B5EF4-FFF2-40B4-BE49-F238E27FC236}">
                <a16:creationId xmlns:a16="http://schemas.microsoft.com/office/drawing/2014/main" id="{43FE0001-2386-57D7-D25C-3C6719006B1C}"/>
              </a:ext>
            </a:extLst>
          </p:cNvPr>
          <p:cNvSpPr txBox="1"/>
          <p:nvPr/>
        </p:nvSpPr>
        <p:spPr>
          <a:xfrm>
            <a:off x="823531" y="4869842"/>
            <a:ext cx="6147412" cy="369332"/>
          </a:xfrm>
          <a:prstGeom prst="rect">
            <a:avLst/>
          </a:prstGeom>
          <a:noFill/>
        </p:spPr>
        <p:txBody>
          <a:bodyPr wrap="square">
            <a:spAutoFit/>
          </a:bodyPr>
          <a:lstStyle/>
          <a:p>
            <a:r>
              <a:rPr lang="en-PS" b="1" dirty="0"/>
              <a:t>Cloning an Existing Repository</a:t>
            </a:r>
          </a:p>
        </p:txBody>
      </p:sp>
      <p:sp>
        <p:nvSpPr>
          <p:cNvPr id="11" name="Rounded Rectangle 10">
            <a:extLst>
              <a:ext uri="{FF2B5EF4-FFF2-40B4-BE49-F238E27FC236}">
                <a16:creationId xmlns:a16="http://schemas.microsoft.com/office/drawing/2014/main" id="{254BD623-5B19-D9F5-7055-37597434FF7E}"/>
              </a:ext>
            </a:extLst>
          </p:cNvPr>
          <p:cNvSpPr/>
          <p:nvPr/>
        </p:nvSpPr>
        <p:spPr>
          <a:xfrm>
            <a:off x="823531" y="5247303"/>
            <a:ext cx="6728605" cy="916022"/>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echo </a:t>
            </a:r>
            <a:r>
              <a:rPr lang="en-PS" sz="1400" dirty="0">
                <a:solidFill>
                  <a:srgbClr val="92D050"/>
                </a:solidFill>
                <a:latin typeface="Consolas" panose="020B0609020204030204" pitchFamily="49" charset="0"/>
                <a:cs typeface="Consolas" panose="020B0609020204030204" pitchFamily="49" charset="0"/>
              </a:rPr>
              <a:t>“Hello Git”</a:t>
            </a:r>
            <a:r>
              <a:rPr lang="en-PS" sz="1400" dirty="0">
                <a:solidFill>
                  <a:srgbClr val="7030A0"/>
                </a:solidFill>
                <a:latin typeface="Consolas" panose="020B0609020204030204" pitchFamily="49" charset="0"/>
                <a:cs typeface="Consolas" panose="020B0609020204030204" pitchFamily="49" charset="0"/>
              </a:rPr>
              <a:t> </a:t>
            </a:r>
            <a:r>
              <a:rPr lang="en-PS" sz="1400" dirty="0">
                <a:solidFill>
                  <a:schemeClr val="bg1"/>
                </a:solidFill>
                <a:latin typeface="Consolas" panose="020B0609020204030204" pitchFamily="49" charset="0"/>
                <a:cs typeface="Consolas" panose="020B0609020204030204" pitchFamily="49" charset="0"/>
              </a:rPr>
              <a:t>&gt;</a:t>
            </a:r>
            <a:r>
              <a:rPr lang="en-PS" sz="1400" dirty="0">
                <a:solidFill>
                  <a:srgbClr val="7030A0"/>
                </a:solidFill>
                <a:latin typeface="Consolas" panose="020B0609020204030204" pitchFamily="49" charset="0"/>
                <a:cs typeface="Consolas" panose="020B0609020204030204" pitchFamily="49" charset="0"/>
              </a:rPr>
              <a:t> </a:t>
            </a:r>
            <a:r>
              <a:rPr lang="en-PS" sz="1400" dirty="0">
                <a:solidFill>
                  <a:schemeClr val="bg1"/>
                </a:solidFill>
                <a:latin typeface="Consolas" panose="020B0609020204030204" pitchFamily="49" charset="0"/>
                <a:cs typeface="Consolas" panose="020B0609020204030204" pitchFamily="49" charset="0"/>
              </a:rPr>
              <a:t>hello.txt</a:t>
            </a: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status</a:t>
            </a:r>
          </a:p>
        </p:txBody>
      </p:sp>
      <p:sp>
        <p:nvSpPr>
          <p:cNvPr id="6" name="TextBox 5">
            <a:extLst>
              <a:ext uri="{FF2B5EF4-FFF2-40B4-BE49-F238E27FC236}">
                <a16:creationId xmlns:a16="http://schemas.microsoft.com/office/drawing/2014/main" id="{39E495D8-3041-EA63-49A0-111E18C6DB84}"/>
              </a:ext>
            </a:extLst>
          </p:cNvPr>
          <p:cNvSpPr txBox="1"/>
          <p:nvPr/>
        </p:nvSpPr>
        <p:spPr>
          <a:xfrm>
            <a:off x="823530" y="1164737"/>
            <a:ext cx="10544939" cy="830997"/>
          </a:xfrm>
          <a:prstGeom prst="rect">
            <a:avLst/>
          </a:prstGeom>
          <a:noFill/>
        </p:spPr>
        <p:txBody>
          <a:bodyPr wrap="square">
            <a:spAutoFit/>
          </a:bodyPr>
          <a:lstStyle/>
          <a:p>
            <a:r>
              <a:rPr lang="en-PS" sz="2400" dirty="0"/>
              <a:t>Each file in your working directory can be in one of two states: tracked or untracked.</a:t>
            </a:r>
          </a:p>
        </p:txBody>
      </p:sp>
      <p:sp>
        <p:nvSpPr>
          <p:cNvPr id="9" name="TextBox 8">
            <a:extLst>
              <a:ext uri="{FF2B5EF4-FFF2-40B4-BE49-F238E27FC236}">
                <a16:creationId xmlns:a16="http://schemas.microsoft.com/office/drawing/2014/main" id="{EAE57C3C-AAE1-67C4-0615-97FE5130C1AC}"/>
              </a:ext>
            </a:extLst>
          </p:cNvPr>
          <p:cNvSpPr txBox="1"/>
          <p:nvPr/>
        </p:nvSpPr>
        <p:spPr>
          <a:xfrm>
            <a:off x="823530" y="3817053"/>
            <a:ext cx="10544938" cy="646331"/>
          </a:xfrm>
          <a:prstGeom prst="rect">
            <a:avLst/>
          </a:prstGeom>
          <a:noFill/>
        </p:spPr>
        <p:txBody>
          <a:bodyPr wrap="square">
            <a:spAutoFit/>
          </a:bodyPr>
          <a:lstStyle/>
          <a:p>
            <a:r>
              <a:rPr lang="en-PS" b="1" dirty="0"/>
              <a:t>Note:</a:t>
            </a:r>
            <a:r>
              <a:rPr lang="en-PS" dirty="0"/>
              <a:t> Tracked files are files that were in the last snapshot, as well as any newly staged files; they can be unmodified, modified, or staged. In short, tracked files are files that Git knows about.</a:t>
            </a:r>
          </a:p>
        </p:txBody>
      </p:sp>
    </p:spTree>
    <p:extLst>
      <p:ext uri="{BB962C8B-B14F-4D97-AF65-F5344CB8AC3E}">
        <p14:creationId xmlns:p14="http://schemas.microsoft.com/office/powerpoint/2010/main" val="59914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Staging Modified Files in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6" name="TextBox 5">
            <a:extLst>
              <a:ext uri="{FF2B5EF4-FFF2-40B4-BE49-F238E27FC236}">
                <a16:creationId xmlns:a16="http://schemas.microsoft.com/office/drawing/2014/main" id="{39E495D8-3041-EA63-49A0-111E18C6DB84}"/>
              </a:ext>
            </a:extLst>
          </p:cNvPr>
          <p:cNvSpPr txBox="1"/>
          <p:nvPr/>
        </p:nvSpPr>
        <p:spPr>
          <a:xfrm>
            <a:off x="823530" y="1164737"/>
            <a:ext cx="10544939" cy="1200329"/>
          </a:xfrm>
          <a:prstGeom prst="rect">
            <a:avLst/>
          </a:prstGeom>
          <a:noFill/>
        </p:spPr>
        <p:txBody>
          <a:bodyPr wrap="square">
            <a:spAutoFit/>
          </a:bodyPr>
          <a:lstStyle/>
          <a:p>
            <a:r>
              <a:rPr lang="en-US" sz="2400" b="1" dirty="0"/>
              <a:t>Tracking New Files:</a:t>
            </a:r>
            <a:endParaRPr lang="en-US" sz="2400" dirty="0"/>
          </a:p>
          <a:p>
            <a:r>
              <a:rPr lang="en-US" sz="2400" dirty="0"/>
              <a:t>In order to begin tracking a new file, you use the command </a:t>
            </a:r>
            <a:r>
              <a:rPr lang="en-US" sz="2400" dirty="0">
                <a:latin typeface="Consolas" panose="020B0609020204030204" pitchFamily="49" charset="0"/>
                <a:cs typeface="Consolas" panose="020B0609020204030204" pitchFamily="49" charset="0"/>
              </a:rPr>
              <a:t>git add</a:t>
            </a:r>
            <a:r>
              <a:rPr lang="en-US" sz="2400" dirty="0"/>
              <a:t>.</a:t>
            </a:r>
          </a:p>
          <a:p>
            <a:endParaRPr lang="en-PS" sz="2400" dirty="0"/>
          </a:p>
        </p:txBody>
      </p:sp>
      <p:sp>
        <p:nvSpPr>
          <p:cNvPr id="2" name="Rounded Rectangle 1">
            <a:extLst>
              <a:ext uri="{FF2B5EF4-FFF2-40B4-BE49-F238E27FC236}">
                <a16:creationId xmlns:a16="http://schemas.microsoft.com/office/drawing/2014/main" id="{A03413D6-1B8C-1AAA-B843-359FFA0C969D}"/>
              </a:ext>
            </a:extLst>
          </p:cNvPr>
          <p:cNvSpPr/>
          <p:nvPr/>
        </p:nvSpPr>
        <p:spPr>
          <a:xfrm>
            <a:off x="832710" y="2513280"/>
            <a:ext cx="6728605" cy="718066"/>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add </a:t>
            </a:r>
            <a:r>
              <a:rPr lang="en-US" sz="1400" dirty="0">
                <a:solidFill>
                  <a:schemeClr val="bg1"/>
                </a:solidFill>
                <a:latin typeface="Consolas" panose="020B0609020204030204" pitchFamily="49" charset="0"/>
                <a:cs typeface="Consolas" panose="020B0609020204030204" pitchFamily="49" charset="0"/>
              </a:rPr>
              <a:t>README</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7" name="Rounded Rectangle 6">
            <a:extLst>
              <a:ext uri="{FF2B5EF4-FFF2-40B4-BE49-F238E27FC236}">
                <a16:creationId xmlns:a16="http://schemas.microsoft.com/office/drawing/2014/main" id="{09CD258A-DFB9-4A95-D732-9E5599F0660C}"/>
              </a:ext>
            </a:extLst>
          </p:cNvPr>
          <p:cNvSpPr/>
          <p:nvPr/>
        </p:nvSpPr>
        <p:spPr>
          <a:xfrm>
            <a:off x="841889" y="3436857"/>
            <a:ext cx="6728605" cy="1818187"/>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status</a:t>
            </a:r>
          </a:p>
          <a:p>
            <a:r>
              <a:rPr lang="en-US" sz="1400" dirty="0">
                <a:solidFill>
                  <a:schemeClr val="bg1"/>
                </a:solidFill>
                <a:latin typeface="Consolas" panose="020B0609020204030204" pitchFamily="49" charset="0"/>
                <a:cs typeface="Consolas" panose="020B0609020204030204" pitchFamily="49" charset="0"/>
              </a:rPr>
              <a:t>On branch master Your branch is up-to-date with 'origin/master'. Changes to be committed:</a:t>
            </a:r>
          </a:p>
          <a:p>
            <a:r>
              <a:rPr lang="en-US" sz="1400" dirty="0">
                <a:solidFill>
                  <a:schemeClr val="bg1"/>
                </a:solidFill>
                <a:latin typeface="Consolas" panose="020B0609020204030204" pitchFamily="49" charset="0"/>
                <a:cs typeface="Consolas" panose="020B0609020204030204" pitchFamily="49" charset="0"/>
              </a:rPr>
              <a:t>29 (use "git restore --staged &lt;file&gt;..." to </a:t>
            </a:r>
            <a:r>
              <a:rPr lang="en-US" sz="1400" dirty="0" err="1">
                <a:solidFill>
                  <a:schemeClr val="bg1"/>
                </a:solidFill>
                <a:latin typeface="Consolas" panose="020B0609020204030204" pitchFamily="49" charset="0"/>
                <a:cs typeface="Consolas" panose="020B0609020204030204" pitchFamily="49" charset="0"/>
              </a:rPr>
              <a:t>unstage</a:t>
            </a:r>
            <a:r>
              <a:rPr lang="en-US" sz="1400" dirty="0">
                <a:solidFill>
                  <a:schemeClr val="bg1"/>
                </a:solidFill>
                <a:latin typeface="Consolas" panose="020B0609020204030204" pitchFamily="49" charset="0"/>
                <a:cs typeface="Consolas" panose="020B0609020204030204" pitchFamily="49" charset="0"/>
              </a:rPr>
              <a:t>)</a:t>
            </a:r>
          </a:p>
          <a:p>
            <a:r>
              <a:rPr lang="en-US" sz="1400" dirty="0">
                <a:solidFill>
                  <a:schemeClr val="bg1"/>
                </a:solidFill>
                <a:latin typeface="Consolas" panose="020B0609020204030204" pitchFamily="49" charset="0"/>
                <a:cs typeface="Consolas" panose="020B0609020204030204" pitchFamily="49" charset="0"/>
              </a:rPr>
              <a:t>new file:</a:t>
            </a:r>
          </a:p>
          <a:p>
            <a:r>
              <a:rPr lang="en-US" sz="1400" dirty="0">
                <a:solidFill>
                  <a:schemeClr val="bg1"/>
                </a:solidFill>
                <a:latin typeface="Consolas" panose="020B0609020204030204" pitchFamily="49" charset="0"/>
                <a:cs typeface="Consolas" panose="020B0609020204030204" pitchFamily="49" charset="0"/>
              </a:rPr>
              <a:t>README</a:t>
            </a:r>
            <a:endParaRPr lang="en-PS" sz="1400"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34958070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Staging Modified Files in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6" name="TextBox 5">
            <a:extLst>
              <a:ext uri="{FF2B5EF4-FFF2-40B4-BE49-F238E27FC236}">
                <a16:creationId xmlns:a16="http://schemas.microsoft.com/office/drawing/2014/main" id="{39E495D8-3041-EA63-49A0-111E18C6DB84}"/>
              </a:ext>
            </a:extLst>
          </p:cNvPr>
          <p:cNvSpPr txBox="1"/>
          <p:nvPr/>
        </p:nvSpPr>
        <p:spPr>
          <a:xfrm>
            <a:off x="823530" y="1164737"/>
            <a:ext cx="10544939" cy="1200329"/>
          </a:xfrm>
          <a:prstGeom prst="rect">
            <a:avLst/>
          </a:prstGeom>
          <a:noFill/>
        </p:spPr>
        <p:txBody>
          <a:bodyPr wrap="square">
            <a:spAutoFit/>
          </a:bodyPr>
          <a:lstStyle/>
          <a:p>
            <a:r>
              <a:rPr lang="en-US" sz="2400" b="1" dirty="0"/>
              <a:t>Staging Modified Files:</a:t>
            </a:r>
            <a:endParaRPr lang="en-US" sz="2400" dirty="0"/>
          </a:p>
          <a:p>
            <a:r>
              <a:rPr lang="en-US" sz="2400" dirty="0"/>
              <a:t>If you change a previously tracked file called </a:t>
            </a:r>
            <a:r>
              <a:rPr lang="en-US" sz="2400" dirty="0" err="1"/>
              <a:t>CONTRIBUTING.md</a:t>
            </a:r>
            <a:r>
              <a:rPr lang="en-US" sz="2400" dirty="0"/>
              <a:t> and then run your git status command again, you get something that looks like this:</a:t>
            </a:r>
            <a:endParaRPr lang="en-PS" sz="2400" dirty="0"/>
          </a:p>
        </p:txBody>
      </p:sp>
      <p:sp>
        <p:nvSpPr>
          <p:cNvPr id="2" name="Rounded Rectangle 1">
            <a:extLst>
              <a:ext uri="{FF2B5EF4-FFF2-40B4-BE49-F238E27FC236}">
                <a16:creationId xmlns:a16="http://schemas.microsoft.com/office/drawing/2014/main" id="{A03413D6-1B8C-1AAA-B843-359FFA0C969D}"/>
              </a:ext>
            </a:extLst>
          </p:cNvPr>
          <p:cNvSpPr/>
          <p:nvPr/>
        </p:nvSpPr>
        <p:spPr>
          <a:xfrm>
            <a:off x="832710" y="2513280"/>
            <a:ext cx="6728605" cy="718066"/>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add </a:t>
            </a:r>
            <a:r>
              <a:rPr lang="en-US" sz="1400" dirty="0" err="1">
                <a:latin typeface="Consolas" panose="020B0609020204030204" pitchFamily="49" charset="0"/>
                <a:cs typeface="Consolas" panose="020B0609020204030204" pitchFamily="49" charset="0"/>
              </a:rPr>
              <a:t>CONTRIBUTING.md</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7" name="Rounded Rectangle 6">
            <a:extLst>
              <a:ext uri="{FF2B5EF4-FFF2-40B4-BE49-F238E27FC236}">
                <a16:creationId xmlns:a16="http://schemas.microsoft.com/office/drawing/2014/main" id="{09CD258A-DFB9-4A95-D732-9E5599F0660C}"/>
              </a:ext>
            </a:extLst>
          </p:cNvPr>
          <p:cNvSpPr/>
          <p:nvPr/>
        </p:nvSpPr>
        <p:spPr>
          <a:xfrm>
            <a:off x="841889" y="3436857"/>
            <a:ext cx="6728605" cy="3250382"/>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status</a:t>
            </a:r>
          </a:p>
          <a:p>
            <a:r>
              <a:rPr lang="en-US" sz="1300" dirty="0">
                <a:solidFill>
                  <a:schemeClr val="bg1"/>
                </a:solidFill>
                <a:latin typeface="Consolas" panose="020B0609020204030204" pitchFamily="49" charset="0"/>
                <a:cs typeface="Consolas" panose="020B0609020204030204" pitchFamily="49" charset="0"/>
              </a:rPr>
              <a:t>On branch master Your branch is up-to-date with 'origin/master'. Changes to be committed:</a:t>
            </a:r>
          </a:p>
          <a:p>
            <a:r>
              <a:rPr lang="en-US" sz="1300" dirty="0">
                <a:solidFill>
                  <a:schemeClr val="bg1"/>
                </a:solidFill>
                <a:latin typeface="Consolas" panose="020B0609020204030204" pitchFamily="49" charset="0"/>
                <a:cs typeface="Consolas" panose="020B0609020204030204" pitchFamily="49" charset="0"/>
              </a:rPr>
              <a:t>(use "git reset HEAD &lt;file&gt;..." to </a:t>
            </a:r>
            <a:r>
              <a:rPr lang="en-US" sz="1300" dirty="0" err="1">
                <a:solidFill>
                  <a:schemeClr val="bg1"/>
                </a:solidFill>
                <a:latin typeface="Consolas" panose="020B0609020204030204" pitchFamily="49" charset="0"/>
                <a:cs typeface="Consolas" panose="020B0609020204030204" pitchFamily="49" charset="0"/>
              </a:rPr>
              <a:t>unstage</a:t>
            </a:r>
            <a:r>
              <a:rPr lang="en-US" sz="1300" dirty="0">
                <a:solidFill>
                  <a:schemeClr val="bg1"/>
                </a:solidFill>
                <a:latin typeface="Consolas" panose="020B0609020204030204" pitchFamily="49" charset="0"/>
                <a:cs typeface="Consolas" panose="020B0609020204030204" pitchFamily="49" charset="0"/>
              </a:rPr>
              <a:t>)</a:t>
            </a:r>
          </a:p>
          <a:p>
            <a:r>
              <a:rPr lang="en-US" sz="1300" dirty="0">
                <a:solidFill>
                  <a:schemeClr val="bg1"/>
                </a:solidFill>
                <a:latin typeface="Consolas" panose="020B0609020204030204" pitchFamily="49" charset="0"/>
                <a:cs typeface="Consolas" panose="020B0609020204030204" pitchFamily="49" charset="0"/>
              </a:rPr>
              <a:t>new file:</a:t>
            </a:r>
          </a:p>
          <a:p>
            <a:r>
              <a:rPr lang="en-US" sz="1300" dirty="0">
                <a:solidFill>
                  <a:schemeClr val="bg1"/>
                </a:solidFill>
                <a:latin typeface="Consolas" panose="020B0609020204030204" pitchFamily="49" charset="0"/>
                <a:cs typeface="Consolas" panose="020B0609020204030204" pitchFamily="49" charset="0"/>
              </a:rPr>
              <a:t>README</a:t>
            </a:r>
          </a:p>
          <a:p>
            <a:endParaRPr lang="en-US" sz="1300" dirty="0">
              <a:solidFill>
                <a:schemeClr val="bg1"/>
              </a:solidFill>
              <a:latin typeface="Consolas" panose="020B0609020204030204" pitchFamily="49" charset="0"/>
              <a:cs typeface="Consolas" panose="020B0609020204030204" pitchFamily="49" charset="0"/>
            </a:endParaRPr>
          </a:p>
          <a:p>
            <a:r>
              <a:rPr lang="en-US" sz="1300" dirty="0">
                <a:solidFill>
                  <a:schemeClr val="bg1"/>
                </a:solidFill>
                <a:latin typeface="Consolas" panose="020B0609020204030204" pitchFamily="49" charset="0"/>
                <a:cs typeface="Consolas" panose="020B0609020204030204" pitchFamily="49" charset="0"/>
              </a:rPr>
              <a:t>Changes not staged for commit:</a:t>
            </a:r>
          </a:p>
          <a:p>
            <a:r>
              <a:rPr lang="en-US" sz="1300" dirty="0">
                <a:solidFill>
                  <a:schemeClr val="bg1"/>
                </a:solidFill>
                <a:latin typeface="Consolas" panose="020B0609020204030204" pitchFamily="49" charset="0"/>
                <a:cs typeface="Consolas" panose="020B0609020204030204" pitchFamily="49" charset="0"/>
              </a:rPr>
              <a:t>(use "git add &lt;file&gt;..." to update what will be committed) (use "git checkout -- &lt;file&gt;..." to discard changes in working directory)</a:t>
            </a:r>
          </a:p>
          <a:p>
            <a:r>
              <a:rPr lang="en-US" sz="1300" dirty="0">
                <a:solidFill>
                  <a:schemeClr val="bg1"/>
                </a:solidFill>
                <a:latin typeface="Consolas" panose="020B0609020204030204" pitchFamily="49" charset="0"/>
                <a:cs typeface="Consolas" panose="020B0609020204030204" pitchFamily="49" charset="0"/>
              </a:rPr>
              <a:t>modified:</a:t>
            </a:r>
          </a:p>
          <a:p>
            <a:endParaRPr lang="en-US" sz="1300" dirty="0">
              <a:solidFill>
                <a:schemeClr val="bg1"/>
              </a:solidFill>
              <a:latin typeface="Consolas" panose="020B0609020204030204" pitchFamily="49" charset="0"/>
              <a:cs typeface="Consolas" panose="020B0609020204030204" pitchFamily="49" charset="0"/>
            </a:endParaRPr>
          </a:p>
          <a:p>
            <a:r>
              <a:rPr lang="en-US" sz="1300" dirty="0" err="1">
                <a:solidFill>
                  <a:schemeClr val="bg1"/>
                </a:solidFill>
                <a:latin typeface="Consolas" panose="020B0609020204030204" pitchFamily="49" charset="0"/>
                <a:cs typeface="Consolas" panose="020B0609020204030204" pitchFamily="49" charset="0"/>
              </a:rPr>
              <a:t>CONTRIBUTING.md</a:t>
            </a:r>
            <a:endParaRPr lang="en-PS" sz="1300" dirty="0">
              <a:solidFill>
                <a:schemeClr val="bg1"/>
              </a:solidFill>
              <a:latin typeface="Consolas" panose="020B0609020204030204" pitchFamily="49" charset="0"/>
              <a:cs typeface="Consolas" panose="020B0609020204030204" pitchFamily="49" charset="0"/>
            </a:endParaRPr>
          </a:p>
        </p:txBody>
      </p:sp>
    </p:spTree>
    <p:extLst>
      <p:ext uri="{BB962C8B-B14F-4D97-AF65-F5344CB8AC3E}">
        <p14:creationId xmlns:p14="http://schemas.microsoft.com/office/powerpoint/2010/main" val="1158696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Commits in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6" name="TextBox 5">
            <a:extLst>
              <a:ext uri="{FF2B5EF4-FFF2-40B4-BE49-F238E27FC236}">
                <a16:creationId xmlns:a16="http://schemas.microsoft.com/office/drawing/2014/main" id="{39E495D8-3041-EA63-49A0-111E18C6DB84}"/>
              </a:ext>
            </a:extLst>
          </p:cNvPr>
          <p:cNvSpPr txBox="1"/>
          <p:nvPr/>
        </p:nvSpPr>
        <p:spPr>
          <a:xfrm>
            <a:off x="823530" y="1164737"/>
            <a:ext cx="10544939" cy="1200329"/>
          </a:xfrm>
          <a:prstGeom prst="rect">
            <a:avLst/>
          </a:prstGeom>
          <a:noFill/>
        </p:spPr>
        <p:txBody>
          <a:bodyPr wrap="square">
            <a:spAutoFit/>
          </a:bodyPr>
          <a:lstStyle/>
          <a:p>
            <a:r>
              <a:rPr lang="en-US" sz="2400" b="1" i="0" u="none" strike="noStrike" dirty="0">
                <a:solidFill>
                  <a:srgbClr val="000000"/>
                </a:solidFill>
                <a:effectLst/>
                <a:latin typeface="-webkit-standard"/>
              </a:rPr>
              <a:t>Committing Your Changes</a:t>
            </a:r>
            <a:r>
              <a:rPr lang="en-US" sz="2400" b="1" dirty="0"/>
              <a:t>:</a:t>
            </a:r>
            <a:endParaRPr lang="en-US" sz="2400" dirty="0"/>
          </a:p>
          <a:p>
            <a:pPr marL="342900" indent="-342900">
              <a:buFont typeface="Arial" panose="020B0604020202020204" pitchFamily="34" charset="0"/>
              <a:buChar char="•"/>
            </a:pPr>
            <a:r>
              <a:rPr lang="en-US" sz="2400" b="0" i="0" u="none" strike="noStrike" dirty="0">
                <a:solidFill>
                  <a:srgbClr val="000000"/>
                </a:solidFill>
                <a:effectLst/>
                <a:latin typeface="-webkit-standard"/>
              </a:rPr>
              <a:t>A </a:t>
            </a:r>
            <a:r>
              <a:rPr lang="en-US" sz="2400" b="1" i="0" dirty="0">
                <a:solidFill>
                  <a:srgbClr val="000000"/>
                </a:solidFill>
                <a:effectLst/>
              </a:rPr>
              <a:t>commit</a:t>
            </a:r>
            <a:r>
              <a:rPr lang="en-US" sz="2400" b="0" i="0" u="none" strike="noStrike" dirty="0">
                <a:solidFill>
                  <a:srgbClr val="000000"/>
                </a:solidFill>
                <a:effectLst/>
                <a:latin typeface="-webkit-standard"/>
              </a:rPr>
              <a:t> records a </a:t>
            </a:r>
            <a:r>
              <a:rPr lang="en-US" sz="2400" b="1" i="0" dirty="0">
                <a:solidFill>
                  <a:srgbClr val="000000"/>
                </a:solidFill>
                <a:effectLst/>
              </a:rPr>
              <a:t>snapshot of the files currently in the staging area</a:t>
            </a:r>
            <a:r>
              <a:rPr lang="en-US" sz="2400" b="0" i="0" u="none" strike="noStrike" dirty="0">
                <a:solidFill>
                  <a:srgbClr val="000000"/>
                </a:solidFill>
                <a:effectLst/>
                <a:latin typeface="-webkit-standard"/>
              </a:rPr>
              <a:t>.</a:t>
            </a:r>
          </a:p>
          <a:p>
            <a:pPr marL="342900" indent="-342900">
              <a:buFont typeface="Arial" panose="020B0604020202020204" pitchFamily="34" charset="0"/>
              <a:buChar char="•"/>
            </a:pPr>
            <a:r>
              <a:rPr lang="en-US" sz="2400" b="0" i="0" u="none" strike="noStrike" dirty="0">
                <a:solidFill>
                  <a:srgbClr val="000000"/>
                </a:solidFill>
                <a:effectLst/>
                <a:latin typeface="-webkit-standard"/>
              </a:rPr>
              <a:t>Files that have not been staged with </a:t>
            </a:r>
            <a:r>
              <a:rPr lang="en-US" sz="2400" dirty="0"/>
              <a:t>git add</a:t>
            </a:r>
            <a:r>
              <a:rPr lang="en-US" sz="2400" b="0" i="0" u="none" strike="noStrike" dirty="0">
                <a:solidFill>
                  <a:srgbClr val="000000"/>
                </a:solidFill>
                <a:effectLst/>
                <a:latin typeface="-webkit-standard"/>
              </a:rPr>
              <a:t> are </a:t>
            </a:r>
            <a:r>
              <a:rPr lang="en-US" sz="2400" b="1" i="0" dirty="0">
                <a:solidFill>
                  <a:srgbClr val="000000"/>
                </a:solidFill>
                <a:effectLst/>
              </a:rPr>
              <a:t>not included</a:t>
            </a:r>
            <a:r>
              <a:rPr lang="en-US" sz="2400" b="0" i="0" u="none" strike="noStrike" dirty="0">
                <a:solidFill>
                  <a:srgbClr val="000000"/>
                </a:solidFill>
                <a:effectLst/>
                <a:latin typeface="-webkit-standard"/>
              </a:rPr>
              <a:t> in the commit.</a:t>
            </a:r>
            <a:endParaRPr lang="en-PS" sz="2400" dirty="0"/>
          </a:p>
        </p:txBody>
      </p:sp>
      <p:sp>
        <p:nvSpPr>
          <p:cNvPr id="2" name="Rounded Rectangle 1">
            <a:extLst>
              <a:ext uri="{FF2B5EF4-FFF2-40B4-BE49-F238E27FC236}">
                <a16:creationId xmlns:a16="http://schemas.microsoft.com/office/drawing/2014/main" id="{A03413D6-1B8C-1AAA-B843-359FFA0C969D}"/>
              </a:ext>
            </a:extLst>
          </p:cNvPr>
          <p:cNvSpPr/>
          <p:nvPr/>
        </p:nvSpPr>
        <p:spPr>
          <a:xfrm>
            <a:off x="823530" y="3069967"/>
            <a:ext cx="4475583" cy="718066"/>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commit</a:t>
            </a:r>
          </a:p>
        </p:txBody>
      </p:sp>
      <p:sp>
        <p:nvSpPr>
          <p:cNvPr id="8" name="TextBox 7">
            <a:extLst>
              <a:ext uri="{FF2B5EF4-FFF2-40B4-BE49-F238E27FC236}">
                <a16:creationId xmlns:a16="http://schemas.microsoft.com/office/drawing/2014/main" id="{95A060D2-590B-1984-CC60-9FD7A1805397}"/>
              </a:ext>
            </a:extLst>
          </p:cNvPr>
          <p:cNvSpPr txBox="1"/>
          <p:nvPr/>
        </p:nvSpPr>
        <p:spPr>
          <a:xfrm>
            <a:off x="823530" y="2609667"/>
            <a:ext cx="6147412" cy="369332"/>
          </a:xfrm>
          <a:prstGeom prst="rect">
            <a:avLst/>
          </a:prstGeom>
          <a:noFill/>
        </p:spPr>
        <p:txBody>
          <a:bodyPr wrap="square">
            <a:spAutoFit/>
          </a:bodyPr>
          <a:lstStyle/>
          <a:p>
            <a:r>
              <a:rPr lang="en-US" b="1" i="0" u="none" strike="noStrike" dirty="0">
                <a:solidFill>
                  <a:srgbClr val="000000"/>
                </a:solidFill>
                <a:effectLst/>
                <a:latin typeface="-webkit-standard"/>
              </a:rPr>
              <a:t>Commit Staged Changes:</a:t>
            </a:r>
            <a:endParaRPr lang="en-PS" b="1" dirty="0"/>
          </a:p>
        </p:txBody>
      </p:sp>
      <p:sp>
        <p:nvSpPr>
          <p:cNvPr id="9" name="Rounded Rectangle 8">
            <a:extLst>
              <a:ext uri="{FF2B5EF4-FFF2-40B4-BE49-F238E27FC236}">
                <a16:creationId xmlns:a16="http://schemas.microsoft.com/office/drawing/2014/main" id="{2524387F-B25E-87D9-8E9D-19699E608CE5}"/>
              </a:ext>
            </a:extLst>
          </p:cNvPr>
          <p:cNvSpPr/>
          <p:nvPr/>
        </p:nvSpPr>
        <p:spPr>
          <a:xfrm>
            <a:off x="832710" y="4522357"/>
            <a:ext cx="4466404" cy="718066"/>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commit</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PS" sz="1400" dirty="0">
                <a:solidFill>
                  <a:srgbClr val="7030A0"/>
                </a:solidFill>
                <a:latin typeface="Consolas" panose="020B0609020204030204" pitchFamily="49" charset="0"/>
                <a:cs typeface="Consolas" panose="020B0609020204030204" pitchFamily="49" charset="0"/>
              </a:rPr>
              <a:t>–m</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PS" sz="1400" dirty="0">
                <a:solidFill>
                  <a:schemeClr val="accent6">
                    <a:lumMod val="75000"/>
                  </a:schemeClr>
                </a:solidFill>
                <a:latin typeface="Consolas" panose="020B0609020204030204" pitchFamily="49" charset="0"/>
                <a:cs typeface="Consolas" panose="020B0609020204030204" pitchFamily="49" charset="0"/>
              </a:rPr>
              <a:t>“Fix Login broken link”</a:t>
            </a:r>
          </a:p>
        </p:txBody>
      </p:sp>
      <p:sp>
        <p:nvSpPr>
          <p:cNvPr id="10" name="TextBox 9">
            <a:extLst>
              <a:ext uri="{FF2B5EF4-FFF2-40B4-BE49-F238E27FC236}">
                <a16:creationId xmlns:a16="http://schemas.microsoft.com/office/drawing/2014/main" id="{ADB2ED6C-6C7B-72F5-95B5-285CD189351D}"/>
              </a:ext>
            </a:extLst>
          </p:cNvPr>
          <p:cNvSpPr txBox="1"/>
          <p:nvPr/>
        </p:nvSpPr>
        <p:spPr>
          <a:xfrm>
            <a:off x="832709" y="4062057"/>
            <a:ext cx="6147412" cy="369332"/>
          </a:xfrm>
          <a:prstGeom prst="rect">
            <a:avLst/>
          </a:prstGeom>
          <a:noFill/>
        </p:spPr>
        <p:txBody>
          <a:bodyPr wrap="square">
            <a:spAutoFit/>
          </a:bodyPr>
          <a:lstStyle/>
          <a:p>
            <a:r>
              <a:rPr lang="en-US" b="1" i="0" u="none" strike="noStrike" dirty="0">
                <a:solidFill>
                  <a:srgbClr val="000000"/>
                </a:solidFill>
                <a:effectLst/>
                <a:latin typeface="-webkit-standard"/>
              </a:rPr>
              <a:t>Commit with a Message:</a:t>
            </a:r>
            <a:endParaRPr lang="en-PS" b="1" dirty="0"/>
          </a:p>
        </p:txBody>
      </p:sp>
      <p:sp>
        <p:nvSpPr>
          <p:cNvPr id="12" name="TextBox 11">
            <a:extLst>
              <a:ext uri="{FF2B5EF4-FFF2-40B4-BE49-F238E27FC236}">
                <a16:creationId xmlns:a16="http://schemas.microsoft.com/office/drawing/2014/main" id="{75E207DE-8FE0-7D7E-E6D1-88847CF58496}"/>
              </a:ext>
            </a:extLst>
          </p:cNvPr>
          <p:cNvSpPr txBox="1"/>
          <p:nvPr/>
        </p:nvSpPr>
        <p:spPr>
          <a:xfrm>
            <a:off x="823529" y="5576064"/>
            <a:ext cx="10544939" cy="923330"/>
          </a:xfrm>
          <a:prstGeom prst="rect">
            <a:avLst/>
          </a:prstGeom>
          <a:noFill/>
        </p:spPr>
        <p:txBody>
          <a:bodyPr wrap="square">
            <a:spAutoFit/>
          </a:bodyPr>
          <a:lstStyle/>
          <a:p>
            <a:pPr algn="l"/>
            <a:r>
              <a:rPr lang="en-US" b="1" i="0" dirty="0">
                <a:solidFill>
                  <a:srgbClr val="000000"/>
                </a:solidFill>
                <a:effectLst/>
              </a:rPr>
              <a:t>Working Directory</a:t>
            </a:r>
            <a:r>
              <a:rPr lang="en-US" b="0" i="0" dirty="0">
                <a:solidFill>
                  <a:srgbClr val="000000"/>
                </a:solidFill>
                <a:effectLst/>
              </a:rPr>
              <a:t> → git add → </a:t>
            </a:r>
            <a:r>
              <a:rPr lang="en-US" b="1" i="0" dirty="0">
                <a:solidFill>
                  <a:srgbClr val="000000"/>
                </a:solidFill>
                <a:effectLst/>
              </a:rPr>
              <a:t>Staging Area</a:t>
            </a:r>
            <a:r>
              <a:rPr lang="en-US" b="0" i="0" dirty="0">
                <a:solidFill>
                  <a:srgbClr val="000000"/>
                </a:solidFill>
                <a:effectLst/>
              </a:rPr>
              <a:t> → git commit → </a:t>
            </a:r>
            <a:r>
              <a:rPr lang="en-US" b="1" i="0" dirty="0">
                <a:solidFill>
                  <a:srgbClr val="000000"/>
                </a:solidFill>
                <a:effectLst/>
              </a:rPr>
              <a:t>Repository</a:t>
            </a:r>
            <a:endParaRPr lang="en-US" b="0" i="0" dirty="0">
              <a:solidFill>
                <a:srgbClr val="000000"/>
              </a:solidFill>
              <a:effectLst/>
            </a:endParaRPr>
          </a:p>
          <a:p>
            <a:r>
              <a:rPr lang="en-US" b="1" dirty="0"/>
              <a:t>Only staged changes are committed.</a:t>
            </a:r>
            <a:r>
              <a:rPr lang="en-US" dirty="0"/>
              <a:t> Each commit creates a snapshot that becomes part of the project's history.</a:t>
            </a:r>
          </a:p>
        </p:txBody>
      </p:sp>
      <p:sp>
        <p:nvSpPr>
          <p:cNvPr id="13" name="Rounded Rectangle 12">
            <a:extLst>
              <a:ext uri="{FF2B5EF4-FFF2-40B4-BE49-F238E27FC236}">
                <a16:creationId xmlns:a16="http://schemas.microsoft.com/office/drawing/2014/main" id="{E23ECCA2-1699-6DB6-11E3-9F32E13CBA63}"/>
              </a:ext>
            </a:extLst>
          </p:cNvPr>
          <p:cNvSpPr/>
          <p:nvPr/>
        </p:nvSpPr>
        <p:spPr>
          <a:xfrm>
            <a:off x="6374206" y="3068128"/>
            <a:ext cx="4475583" cy="1084969"/>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US" sz="1400" b="0" i="0" u="none" strike="noStrike" dirty="0">
                <a:solidFill>
                  <a:srgbClr val="000000"/>
                </a:solidFill>
                <a:effectLst/>
                <a:latin typeface="-webkit-standard"/>
              </a:rPr>
              <a:t>[master 463dc4f] Fix login broken link </a:t>
            </a:r>
          </a:p>
          <a:p>
            <a:r>
              <a:rPr lang="en-US" sz="1400" b="0" i="0" u="none" strike="noStrike" dirty="0">
                <a:solidFill>
                  <a:srgbClr val="000000"/>
                </a:solidFill>
                <a:effectLst/>
                <a:latin typeface="-webkit-standard"/>
              </a:rPr>
              <a:t>2 files changed, 2 insertions(+) </a:t>
            </a:r>
          </a:p>
          <a:p>
            <a:r>
              <a:rPr lang="en-US" sz="1400" b="0" i="0" u="none" strike="noStrike" dirty="0">
                <a:solidFill>
                  <a:srgbClr val="000000"/>
                </a:solidFill>
                <a:effectLst/>
                <a:latin typeface="-webkit-standard"/>
              </a:rPr>
              <a:t>create mode 100644 README</a:t>
            </a:r>
            <a:endParaRPr lang="en-PS" sz="1400" dirty="0">
              <a:solidFill>
                <a:schemeClr val="tx1"/>
              </a:solidFill>
              <a:latin typeface="Consolas" panose="020B0609020204030204" pitchFamily="49" charset="0"/>
              <a:cs typeface="Consolas" panose="020B0609020204030204" pitchFamily="49" charset="0"/>
            </a:endParaRPr>
          </a:p>
        </p:txBody>
      </p:sp>
      <p:sp>
        <p:nvSpPr>
          <p:cNvPr id="14" name="TextBox 13">
            <a:extLst>
              <a:ext uri="{FF2B5EF4-FFF2-40B4-BE49-F238E27FC236}">
                <a16:creationId xmlns:a16="http://schemas.microsoft.com/office/drawing/2014/main" id="{FA0D7CC5-55C6-8F4F-17A2-B0C099C8F452}"/>
              </a:ext>
            </a:extLst>
          </p:cNvPr>
          <p:cNvSpPr txBox="1"/>
          <p:nvPr/>
        </p:nvSpPr>
        <p:spPr>
          <a:xfrm>
            <a:off x="6374206" y="2607829"/>
            <a:ext cx="4475583" cy="369332"/>
          </a:xfrm>
          <a:prstGeom prst="rect">
            <a:avLst/>
          </a:prstGeom>
          <a:noFill/>
        </p:spPr>
        <p:txBody>
          <a:bodyPr wrap="square">
            <a:spAutoFit/>
          </a:bodyPr>
          <a:lstStyle/>
          <a:p>
            <a:r>
              <a:rPr lang="en-US" b="1" i="0" u="none" strike="noStrike" dirty="0">
                <a:solidFill>
                  <a:srgbClr val="000000"/>
                </a:solidFill>
                <a:effectLst/>
                <a:latin typeface="-webkit-standard"/>
              </a:rPr>
              <a:t>Example Output:</a:t>
            </a:r>
            <a:endParaRPr lang="en-PS" b="1" dirty="0"/>
          </a:p>
        </p:txBody>
      </p:sp>
    </p:spTree>
    <p:extLst>
      <p:ext uri="{BB962C8B-B14F-4D97-AF65-F5344CB8AC3E}">
        <p14:creationId xmlns:p14="http://schemas.microsoft.com/office/powerpoint/2010/main" val="22805614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Deleting files with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6" name="TextBox 5">
            <a:extLst>
              <a:ext uri="{FF2B5EF4-FFF2-40B4-BE49-F238E27FC236}">
                <a16:creationId xmlns:a16="http://schemas.microsoft.com/office/drawing/2014/main" id="{39E495D8-3041-EA63-49A0-111E18C6DB84}"/>
              </a:ext>
            </a:extLst>
          </p:cNvPr>
          <p:cNvSpPr txBox="1"/>
          <p:nvPr/>
        </p:nvSpPr>
        <p:spPr>
          <a:xfrm>
            <a:off x="823530" y="1164737"/>
            <a:ext cx="10544939" cy="830997"/>
          </a:xfrm>
          <a:prstGeom prst="rect">
            <a:avLst/>
          </a:prstGeom>
          <a:noFill/>
        </p:spPr>
        <p:txBody>
          <a:bodyPr wrap="square">
            <a:spAutoFit/>
          </a:bodyPr>
          <a:lstStyle/>
          <a:p>
            <a:pPr algn="l"/>
            <a:r>
              <a:rPr lang="en-US" sz="2400" b="0" i="0" dirty="0">
                <a:solidFill>
                  <a:srgbClr val="000000"/>
                </a:solidFill>
                <a:effectLst/>
              </a:rPr>
              <a:t>Git can track </a:t>
            </a:r>
            <a:r>
              <a:rPr lang="en-US" sz="2400" b="1" i="0" dirty="0">
                <a:solidFill>
                  <a:srgbClr val="000000"/>
                </a:solidFill>
                <a:effectLst/>
              </a:rPr>
              <a:t>file deletions</a:t>
            </a:r>
            <a:r>
              <a:rPr lang="en-US" sz="2400" b="0" i="0" dirty="0">
                <a:solidFill>
                  <a:srgbClr val="000000"/>
                </a:solidFill>
                <a:effectLst/>
              </a:rPr>
              <a:t> just like other changes. A deleted file is not removed from previous commits - it remains available in the repository history.</a:t>
            </a:r>
          </a:p>
        </p:txBody>
      </p:sp>
      <p:sp>
        <p:nvSpPr>
          <p:cNvPr id="15" name="TextBox 14">
            <a:extLst>
              <a:ext uri="{FF2B5EF4-FFF2-40B4-BE49-F238E27FC236}">
                <a16:creationId xmlns:a16="http://schemas.microsoft.com/office/drawing/2014/main" id="{4F2A3AEE-793E-BDBF-41E7-4F5D37008AFB}"/>
              </a:ext>
            </a:extLst>
          </p:cNvPr>
          <p:cNvSpPr txBox="1"/>
          <p:nvPr/>
        </p:nvSpPr>
        <p:spPr>
          <a:xfrm>
            <a:off x="823530" y="2167436"/>
            <a:ext cx="6728605" cy="369332"/>
          </a:xfrm>
          <a:prstGeom prst="rect">
            <a:avLst/>
          </a:prstGeom>
          <a:noFill/>
        </p:spPr>
        <p:txBody>
          <a:bodyPr wrap="square">
            <a:spAutoFit/>
          </a:bodyPr>
          <a:lstStyle/>
          <a:p>
            <a:r>
              <a:rPr lang="en-US" b="1" i="0" u="none" strike="noStrike" dirty="0">
                <a:solidFill>
                  <a:srgbClr val="000000"/>
                </a:solidFill>
                <a:effectLst/>
                <a:latin typeface="-webkit-standard"/>
              </a:rPr>
              <a:t>Delete &amp; Stage a File: </a:t>
            </a:r>
            <a:r>
              <a:rPr lang="en-US" sz="1200" i="1" u="none" strike="noStrike" dirty="0">
                <a:solidFill>
                  <a:srgbClr val="000000"/>
                </a:solidFill>
                <a:effectLst/>
                <a:latin typeface="-webkit-standard"/>
              </a:rPr>
              <a:t>(The recommended Git command)</a:t>
            </a:r>
            <a:endParaRPr lang="en-PS" sz="1200" i="1" dirty="0"/>
          </a:p>
        </p:txBody>
      </p:sp>
      <p:sp>
        <p:nvSpPr>
          <p:cNvPr id="16" name="Rounded Rectangle 15">
            <a:extLst>
              <a:ext uri="{FF2B5EF4-FFF2-40B4-BE49-F238E27FC236}">
                <a16:creationId xmlns:a16="http://schemas.microsoft.com/office/drawing/2014/main" id="{064CE886-2EB6-F571-579A-F9FB4A85A053}"/>
              </a:ext>
            </a:extLst>
          </p:cNvPr>
          <p:cNvSpPr/>
          <p:nvPr/>
        </p:nvSpPr>
        <p:spPr>
          <a:xfrm>
            <a:off x="823531" y="2708470"/>
            <a:ext cx="4354398" cy="718066"/>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rm </a:t>
            </a:r>
            <a:r>
              <a:rPr lang="en-US" sz="1400" dirty="0" err="1">
                <a:latin typeface="Consolas" panose="020B0609020204030204" pitchFamily="49" charset="0"/>
                <a:cs typeface="Consolas" panose="020B0609020204030204" pitchFamily="49" charset="0"/>
              </a:rPr>
              <a:t>notes.txt</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18" name="TextBox 17">
            <a:extLst>
              <a:ext uri="{FF2B5EF4-FFF2-40B4-BE49-F238E27FC236}">
                <a16:creationId xmlns:a16="http://schemas.microsoft.com/office/drawing/2014/main" id="{2278C13F-7F91-C793-0162-B1B5F106402E}"/>
              </a:ext>
            </a:extLst>
          </p:cNvPr>
          <p:cNvSpPr txBox="1"/>
          <p:nvPr/>
        </p:nvSpPr>
        <p:spPr>
          <a:xfrm>
            <a:off x="823530" y="3598238"/>
            <a:ext cx="4354398" cy="461665"/>
          </a:xfrm>
          <a:prstGeom prst="rect">
            <a:avLst/>
          </a:prstGeom>
          <a:noFill/>
        </p:spPr>
        <p:txBody>
          <a:bodyPr wrap="square">
            <a:spAutoFit/>
          </a:bodyPr>
          <a:lstStyle/>
          <a:p>
            <a:pPr algn="l"/>
            <a:r>
              <a:rPr lang="en-US" sz="1200" b="0" i="0" dirty="0">
                <a:solidFill>
                  <a:srgbClr val="000000"/>
                </a:solidFill>
                <a:effectLst/>
              </a:rPr>
              <a:t>This performs </a:t>
            </a:r>
            <a:r>
              <a:rPr lang="en-US" sz="1200" b="1" i="0" dirty="0">
                <a:solidFill>
                  <a:srgbClr val="000000"/>
                </a:solidFill>
                <a:effectLst/>
              </a:rPr>
              <a:t>two actions</a:t>
            </a:r>
            <a:r>
              <a:rPr lang="en-US" sz="1200" b="0" i="0" dirty="0">
                <a:solidFill>
                  <a:srgbClr val="000000"/>
                </a:solidFill>
                <a:effectLst/>
              </a:rPr>
              <a:t>: </a:t>
            </a:r>
            <a:r>
              <a:rPr lang="en-US" sz="1200" b="1" i="0" dirty="0">
                <a:solidFill>
                  <a:srgbClr val="000000"/>
                </a:solidFill>
                <a:effectLst/>
              </a:rPr>
              <a:t>Deletes the file</a:t>
            </a:r>
            <a:r>
              <a:rPr lang="en-US" sz="1200" b="0" i="0" dirty="0">
                <a:solidFill>
                  <a:srgbClr val="000000"/>
                </a:solidFill>
                <a:effectLst/>
              </a:rPr>
              <a:t> + </a:t>
            </a:r>
            <a:r>
              <a:rPr lang="en-US" sz="1200" b="1" i="0" dirty="0">
                <a:solidFill>
                  <a:srgbClr val="000000"/>
                </a:solidFill>
                <a:effectLst/>
              </a:rPr>
              <a:t>Stages the deletion</a:t>
            </a:r>
            <a:endParaRPr lang="en-US" sz="1200" b="0" i="0" dirty="0">
              <a:solidFill>
                <a:srgbClr val="000000"/>
              </a:solidFill>
              <a:effectLst/>
            </a:endParaRPr>
          </a:p>
          <a:p>
            <a:pPr algn="l"/>
            <a:r>
              <a:rPr lang="en-US" sz="1200" b="0" i="0" dirty="0">
                <a:solidFill>
                  <a:srgbClr val="000000"/>
                </a:solidFill>
                <a:effectLst/>
              </a:rPr>
              <a:t>Then commit the change</a:t>
            </a:r>
          </a:p>
        </p:txBody>
      </p:sp>
      <p:sp>
        <p:nvSpPr>
          <p:cNvPr id="19" name="TextBox 18">
            <a:extLst>
              <a:ext uri="{FF2B5EF4-FFF2-40B4-BE49-F238E27FC236}">
                <a16:creationId xmlns:a16="http://schemas.microsoft.com/office/drawing/2014/main" id="{FAD1D443-97A5-0DE7-42E3-F3B601D1D8B4}"/>
              </a:ext>
            </a:extLst>
          </p:cNvPr>
          <p:cNvSpPr txBox="1"/>
          <p:nvPr/>
        </p:nvSpPr>
        <p:spPr>
          <a:xfrm>
            <a:off x="6903018" y="2176615"/>
            <a:ext cx="4354398" cy="369332"/>
          </a:xfrm>
          <a:prstGeom prst="rect">
            <a:avLst/>
          </a:prstGeom>
          <a:noFill/>
        </p:spPr>
        <p:txBody>
          <a:bodyPr wrap="square">
            <a:spAutoFit/>
          </a:bodyPr>
          <a:lstStyle/>
          <a:p>
            <a:r>
              <a:rPr lang="en-US" b="1" i="0" u="none" strike="noStrike" dirty="0">
                <a:solidFill>
                  <a:srgbClr val="000000"/>
                </a:solidFill>
                <a:effectLst/>
                <a:latin typeface="-webkit-standard"/>
              </a:rPr>
              <a:t>Deleting file manually:</a:t>
            </a:r>
            <a:endParaRPr lang="en-PS" sz="1200" i="1" dirty="0"/>
          </a:p>
        </p:txBody>
      </p:sp>
      <p:sp>
        <p:nvSpPr>
          <p:cNvPr id="23" name="TextBox 22">
            <a:extLst>
              <a:ext uri="{FF2B5EF4-FFF2-40B4-BE49-F238E27FC236}">
                <a16:creationId xmlns:a16="http://schemas.microsoft.com/office/drawing/2014/main" id="{5388A781-C162-6F1E-387A-B005A652A873}"/>
              </a:ext>
            </a:extLst>
          </p:cNvPr>
          <p:cNvSpPr txBox="1"/>
          <p:nvPr/>
        </p:nvSpPr>
        <p:spPr>
          <a:xfrm>
            <a:off x="6903018" y="2609256"/>
            <a:ext cx="6147412" cy="923330"/>
          </a:xfrm>
          <a:prstGeom prst="rect">
            <a:avLst/>
          </a:prstGeom>
          <a:noFill/>
        </p:spPr>
        <p:txBody>
          <a:bodyPr wrap="square">
            <a:spAutoFit/>
          </a:bodyPr>
          <a:lstStyle/>
          <a:p>
            <a:pPr marL="285750" indent="-285750">
              <a:buFont typeface="Arial" panose="020B0604020202020204" pitchFamily="34" charset="0"/>
              <a:buChar char="•"/>
            </a:pPr>
            <a:r>
              <a:rPr lang="en-US" b="0" i="0" u="none" strike="noStrike" dirty="0">
                <a:solidFill>
                  <a:srgbClr val="000000"/>
                </a:solidFill>
                <a:effectLst/>
                <a:latin typeface="-webkit-standard"/>
              </a:rPr>
              <a:t>Git detects the deletion</a:t>
            </a:r>
            <a:endParaRPr lang="en-US" dirty="0">
              <a:solidFill>
                <a:srgbClr val="000000"/>
              </a:solidFill>
              <a:latin typeface="-webkit-standard"/>
            </a:endParaRPr>
          </a:p>
          <a:p>
            <a:pPr marL="285750" indent="-285750">
              <a:buFont typeface="Arial" panose="020B0604020202020204" pitchFamily="34" charset="0"/>
              <a:buChar char="•"/>
            </a:pPr>
            <a:r>
              <a:rPr lang="en-US" b="0" i="0" u="none" strike="noStrike" dirty="0">
                <a:solidFill>
                  <a:srgbClr val="000000"/>
                </a:solidFill>
                <a:effectLst/>
                <a:latin typeface="-webkit-standard"/>
              </a:rPr>
              <a:t>But you still need to stage it</a:t>
            </a:r>
          </a:p>
          <a:p>
            <a:pPr marL="285750" indent="-285750">
              <a:buFont typeface="Arial" panose="020B0604020202020204" pitchFamily="34" charset="0"/>
              <a:buChar char="•"/>
            </a:pPr>
            <a:r>
              <a:rPr lang="en-US" b="0" i="0" u="none" strike="noStrike" dirty="0">
                <a:solidFill>
                  <a:srgbClr val="000000"/>
                </a:solidFill>
                <a:effectLst/>
                <a:latin typeface="-webkit-standard"/>
              </a:rPr>
              <a:t>Then commit:</a:t>
            </a:r>
            <a:endParaRPr lang="en-PS" dirty="0"/>
          </a:p>
        </p:txBody>
      </p:sp>
      <p:cxnSp>
        <p:nvCxnSpPr>
          <p:cNvPr id="27" name="Straight Connector 26">
            <a:extLst>
              <a:ext uri="{FF2B5EF4-FFF2-40B4-BE49-F238E27FC236}">
                <a16:creationId xmlns:a16="http://schemas.microsoft.com/office/drawing/2014/main" id="{3A8D75C5-6A10-D4C9-FADC-13FDC1235E66}"/>
              </a:ext>
            </a:extLst>
          </p:cNvPr>
          <p:cNvCxnSpPr/>
          <p:nvPr/>
        </p:nvCxnSpPr>
        <p:spPr>
          <a:xfrm>
            <a:off x="6096000" y="2176615"/>
            <a:ext cx="0" cy="197674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681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Restoring deleted files with Git</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20" name="Rounded Rectangle 19">
            <a:extLst>
              <a:ext uri="{FF2B5EF4-FFF2-40B4-BE49-F238E27FC236}">
                <a16:creationId xmlns:a16="http://schemas.microsoft.com/office/drawing/2014/main" id="{0CAA9361-8164-A6ED-3785-52789EAE08B5}"/>
              </a:ext>
            </a:extLst>
          </p:cNvPr>
          <p:cNvSpPr/>
          <p:nvPr/>
        </p:nvSpPr>
        <p:spPr>
          <a:xfrm>
            <a:off x="921331" y="2055262"/>
            <a:ext cx="4354398" cy="718066"/>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restore</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notes.txt</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31" name="TextBox 30">
            <a:extLst>
              <a:ext uri="{FF2B5EF4-FFF2-40B4-BE49-F238E27FC236}">
                <a16:creationId xmlns:a16="http://schemas.microsoft.com/office/drawing/2014/main" id="{21A6AA09-A0E7-5FC5-B952-E24E6CCEB3E5}"/>
              </a:ext>
            </a:extLst>
          </p:cNvPr>
          <p:cNvSpPr txBox="1"/>
          <p:nvPr/>
        </p:nvSpPr>
        <p:spPr>
          <a:xfrm>
            <a:off x="921331" y="1593974"/>
            <a:ext cx="6533002" cy="369332"/>
          </a:xfrm>
          <a:prstGeom prst="rect">
            <a:avLst/>
          </a:prstGeom>
          <a:noFill/>
        </p:spPr>
        <p:txBody>
          <a:bodyPr wrap="square">
            <a:spAutoFit/>
          </a:bodyPr>
          <a:lstStyle/>
          <a:p>
            <a:r>
              <a:rPr lang="en-US" b="0" i="0" u="none" strike="noStrike" dirty="0">
                <a:solidFill>
                  <a:srgbClr val="000000"/>
                </a:solidFill>
                <a:effectLst/>
                <a:latin typeface="-webkit-standard"/>
              </a:rPr>
              <a:t>Before staging:</a:t>
            </a:r>
            <a:endParaRPr lang="en-PS" dirty="0"/>
          </a:p>
        </p:txBody>
      </p:sp>
      <p:sp>
        <p:nvSpPr>
          <p:cNvPr id="32" name="Rounded Rectangle 31">
            <a:extLst>
              <a:ext uri="{FF2B5EF4-FFF2-40B4-BE49-F238E27FC236}">
                <a16:creationId xmlns:a16="http://schemas.microsoft.com/office/drawing/2014/main" id="{A184A4EE-EA5B-611C-270D-CF3A4FEC2043}"/>
              </a:ext>
            </a:extLst>
          </p:cNvPr>
          <p:cNvSpPr/>
          <p:nvPr/>
        </p:nvSpPr>
        <p:spPr>
          <a:xfrm>
            <a:off x="6276879" y="1963306"/>
            <a:ext cx="4354398" cy="914400"/>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restore</a:t>
            </a:r>
            <a:r>
              <a:rPr lang="en-PS" sz="1400" dirty="0">
                <a:solidFill>
                  <a:srgbClr val="7030A0"/>
                </a:solidFill>
                <a:latin typeface="Consolas" panose="020B0609020204030204" pitchFamily="49" charset="0"/>
                <a:cs typeface="Consolas" panose="020B0609020204030204" pitchFamily="49" charset="0"/>
              </a:rPr>
              <a:t> </a:t>
            </a:r>
            <a:r>
              <a:rPr lang="en-PS" sz="1400" dirty="0">
                <a:solidFill>
                  <a:schemeClr val="accent4">
                    <a:lumMod val="60000"/>
                    <a:lumOff val="40000"/>
                  </a:schemeClr>
                </a:solidFill>
                <a:latin typeface="Consolas" panose="020B0609020204030204" pitchFamily="49" charset="0"/>
                <a:cs typeface="Consolas" panose="020B0609020204030204" pitchFamily="49" charset="0"/>
              </a:rPr>
              <a:t>--stages </a:t>
            </a:r>
            <a:r>
              <a:rPr lang="en-US" sz="1400" dirty="0" err="1">
                <a:latin typeface="Consolas" panose="020B0609020204030204" pitchFamily="49" charset="0"/>
                <a:cs typeface="Consolas" panose="020B0609020204030204" pitchFamily="49" charset="0"/>
              </a:rPr>
              <a:t>notes.txt</a:t>
            </a:r>
            <a:endParaRPr lang="en-US" sz="1400" dirty="0">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restore</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notes.txt</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33" name="TextBox 32">
            <a:extLst>
              <a:ext uri="{FF2B5EF4-FFF2-40B4-BE49-F238E27FC236}">
                <a16:creationId xmlns:a16="http://schemas.microsoft.com/office/drawing/2014/main" id="{FDADE256-55CE-9ECC-10BB-7FF737C03C8C}"/>
              </a:ext>
            </a:extLst>
          </p:cNvPr>
          <p:cNvSpPr txBox="1"/>
          <p:nvPr/>
        </p:nvSpPr>
        <p:spPr>
          <a:xfrm>
            <a:off x="6276879" y="1502018"/>
            <a:ext cx="6533002" cy="369332"/>
          </a:xfrm>
          <a:prstGeom prst="rect">
            <a:avLst/>
          </a:prstGeom>
          <a:noFill/>
        </p:spPr>
        <p:txBody>
          <a:bodyPr wrap="square">
            <a:spAutoFit/>
          </a:bodyPr>
          <a:lstStyle/>
          <a:p>
            <a:r>
              <a:rPr lang="en-US" b="0" i="0" u="none" strike="noStrike" dirty="0">
                <a:solidFill>
                  <a:srgbClr val="000000"/>
                </a:solidFill>
                <a:effectLst/>
                <a:latin typeface="-webkit-standard"/>
              </a:rPr>
              <a:t>If the deletion is already staged:</a:t>
            </a:r>
            <a:endParaRPr lang="en-PS" dirty="0"/>
          </a:p>
        </p:txBody>
      </p:sp>
      <p:sp>
        <p:nvSpPr>
          <p:cNvPr id="8" name="TextBox 7">
            <a:extLst>
              <a:ext uri="{FF2B5EF4-FFF2-40B4-BE49-F238E27FC236}">
                <a16:creationId xmlns:a16="http://schemas.microsoft.com/office/drawing/2014/main" id="{06A40050-FCE1-E06F-D689-03C3CDFA35B7}"/>
              </a:ext>
            </a:extLst>
          </p:cNvPr>
          <p:cNvSpPr txBox="1"/>
          <p:nvPr/>
        </p:nvSpPr>
        <p:spPr>
          <a:xfrm>
            <a:off x="921331" y="4508394"/>
            <a:ext cx="10447138" cy="646331"/>
          </a:xfrm>
          <a:prstGeom prst="rect">
            <a:avLst/>
          </a:prstGeom>
          <a:noFill/>
        </p:spPr>
        <p:txBody>
          <a:bodyPr wrap="square">
            <a:spAutoFit/>
          </a:bodyPr>
          <a:lstStyle/>
          <a:p>
            <a:r>
              <a:rPr lang="en-US" b="1" i="0" dirty="0">
                <a:solidFill>
                  <a:srgbClr val="000000"/>
                </a:solidFill>
                <a:effectLst/>
              </a:rPr>
              <a:t>Deleting a tracked file does not erase its history.</a:t>
            </a:r>
            <a:r>
              <a:rPr lang="en-US" b="0" i="0" u="none" strike="noStrike" dirty="0">
                <a:solidFill>
                  <a:srgbClr val="000000"/>
                </a:solidFill>
                <a:effectLst/>
                <a:latin typeface="-webkit-standard"/>
              </a:rPr>
              <a:t> Git records the deletion as a new change, while previous versions remain in earlier commits.</a:t>
            </a:r>
            <a:endParaRPr lang="en-PS" dirty="0"/>
          </a:p>
        </p:txBody>
      </p:sp>
    </p:spTree>
    <p:extLst>
      <p:ext uri="{BB962C8B-B14F-4D97-AF65-F5344CB8AC3E}">
        <p14:creationId xmlns:p14="http://schemas.microsoft.com/office/powerpoint/2010/main" val="1324695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Git Tag</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2" name="Google Shape;122;p8">
            <a:extLst>
              <a:ext uri="{FF2B5EF4-FFF2-40B4-BE49-F238E27FC236}">
                <a16:creationId xmlns:a16="http://schemas.microsoft.com/office/drawing/2014/main" id="{5B0D2A30-DF10-D510-EC61-54A081B9DB00}"/>
              </a:ext>
            </a:extLst>
          </p:cNvPr>
          <p:cNvSpPr txBox="1">
            <a:spLocks/>
          </p:cNvSpPr>
          <p:nvPr/>
        </p:nvSpPr>
        <p:spPr>
          <a:xfrm>
            <a:off x="457199" y="1600200"/>
            <a:ext cx="10911269" cy="1572658"/>
          </a:xfrm>
          <a:prstGeom prst="rect">
            <a:avLst/>
          </a:prstGeom>
          <a:noFill/>
          <a:ln>
            <a:noFill/>
          </a:ln>
        </p:spPr>
        <p:txBody>
          <a:bodyPr spcFirstLastPara="1" vert="horz" wrap="square" lIns="91425" tIns="45700" rIns="91425" bIns="45700" rtlCol="0" anchor="t" anchorCtr="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533400" indent="-457200" algn="l">
              <a:spcBef>
                <a:spcPts val="0"/>
              </a:spcBef>
              <a:buClr>
                <a:schemeClr val="dk1"/>
              </a:buClr>
              <a:buSzPct val="100000"/>
              <a:buFont typeface="Arial" panose="020B0604020202020204" pitchFamily="34" charset="0"/>
              <a:buChar char="•"/>
            </a:pPr>
            <a:r>
              <a:rPr lang="en-US" dirty="0">
                <a:solidFill>
                  <a:schemeClr val="dk1"/>
                </a:solidFill>
                <a:latin typeface="Calibri"/>
                <a:ea typeface="Calibri"/>
                <a:cs typeface="Calibri"/>
                <a:sym typeface="Calibri"/>
              </a:rPr>
              <a:t>The </a:t>
            </a:r>
            <a:r>
              <a:rPr lang="en-US" dirty="0">
                <a:solidFill>
                  <a:schemeClr val="dk1"/>
                </a:solidFill>
                <a:latin typeface="Consolas" panose="020B0609020204030204" pitchFamily="49" charset="0"/>
                <a:ea typeface="Calibri"/>
                <a:cs typeface="Consolas" panose="020B0609020204030204" pitchFamily="49" charset="0"/>
                <a:sym typeface="Calibri"/>
              </a:rPr>
              <a:t>git tag</a:t>
            </a:r>
            <a:r>
              <a:rPr lang="en-US" dirty="0">
                <a:solidFill>
                  <a:schemeClr val="dk1"/>
                </a:solidFill>
                <a:latin typeface="Calibri"/>
                <a:ea typeface="Calibri"/>
                <a:cs typeface="Calibri"/>
                <a:sym typeface="Calibri"/>
              </a:rPr>
              <a:t> command is used in Git to create, list, delete, or verify tags. </a:t>
            </a:r>
          </a:p>
          <a:p>
            <a:pPr marL="533400" indent="-457200" algn="l">
              <a:spcBef>
                <a:spcPts val="0"/>
              </a:spcBef>
              <a:buClr>
                <a:schemeClr val="dk1"/>
              </a:buClr>
              <a:buSzPct val="100000"/>
              <a:buFont typeface="Arial" panose="020B0604020202020204" pitchFamily="34" charset="0"/>
              <a:buChar char="•"/>
            </a:pPr>
            <a:r>
              <a:rPr lang="en-US" dirty="0">
                <a:solidFill>
                  <a:schemeClr val="dk1"/>
                </a:solidFill>
                <a:latin typeface="Calibri"/>
                <a:ea typeface="Calibri"/>
                <a:cs typeface="Calibri"/>
                <a:sym typeface="Calibri"/>
              </a:rPr>
              <a:t>Tags are essentially labels or bookmarks for specific points in your project's history, often used to mark releases</a:t>
            </a:r>
            <a:r>
              <a:rPr lang="en-US" dirty="0">
                <a:solidFill>
                  <a:schemeClr val="dk1"/>
                </a:solidFill>
              </a:rPr>
              <a:t>.</a:t>
            </a:r>
          </a:p>
          <a:p>
            <a:pPr marL="533400" indent="-457200" algn="l">
              <a:spcBef>
                <a:spcPts val="0"/>
              </a:spcBef>
              <a:buClr>
                <a:schemeClr val="dk1"/>
              </a:buClr>
              <a:buSzPct val="100000"/>
              <a:buFont typeface="Arial" panose="020B0604020202020204" pitchFamily="34" charset="0"/>
              <a:buChar char="•"/>
            </a:pPr>
            <a:r>
              <a:rPr lang="en-US" dirty="0">
                <a:solidFill>
                  <a:schemeClr val="dk1"/>
                </a:solidFill>
              </a:rPr>
              <a:t>L</a:t>
            </a:r>
            <a:r>
              <a:rPr lang="en-US" dirty="0">
                <a:solidFill>
                  <a:schemeClr val="dk1"/>
                </a:solidFill>
                <a:latin typeface="Calibri"/>
                <a:ea typeface="Calibri"/>
                <a:cs typeface="Calibri"/>
                <a:sym typeface="Calibri"/>
              </a:rPr>
              <a:t>abel a commit (for versions/releases)</a:t>
            </a:r>
            <a:endParaRPr lang="en-US" dirty="0"/>
          </a:p>
        </p:txBody>
      </p:sp>
      <p:sp>
        <p:nvSpPr>
          <p:cNvPr id="3" name="Rounded Rectangle 2">
            <a:extLst>
              <a:ext uri="{FF2B5EF4-FFF2-40B4-BE49-F238E27FC236}">
                <a16:creationId xmlns:a16="http://schemas.microsoft.com/office/drawing/2014/main" id="{378DFB6D-5FCC-4BEA-C565-7C8465ABA185}"/>
              </a:ext>
            </a:extLst>
          </p:cNvPr>
          <p:cNvSpPr/>
          <p:nvPr/>
        </p:nvSpPr>
        <p:spPr>
          <a:xfrm>
            <a:off x="779464" y="3723695"/>
            <a:ext cx="4354398" cy="1053920"/>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tag</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v1.0</a:t>
            </a:r>
          </a:p>
          <a:p>
            <a:r>
              <a:rPr lang="en-US" sz="1400" dirty="0">
                <a:latin typeface="Consolas" panose="020B0609020204030204" pitchFamily="49" charset="0"/>
                <a:cs typeface="Consolas" panose="020B0609020204030204" pitchFamily="49" charset="0"/>
              </a:rPr>
              <a:t>//or using annotated tag</a:t>
            </a: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tag</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PS" sz="1400" dirty="0">
                <a:solidFill>
                  <a:schemeClr val="tx1"/>
                </a:solidFill>
                <a:latin typeface="Consolas" panose="020B0609020204030204" pitchFamily="49" charset="0"/>
                <a:cs typeface="Consolas" panose="020B0609020204030204" pitchFamily="49" charset="0"/>
              </a:rPr>
              <a:t>–a</a:t>
            </a:r>
            <a:r>
              <a:rPr lang="en-PS" sz="1400" dirty="0">
                <a:solidFill>
                  <a:schemeClr val="accent4">
                    <a:lumMod val="60000"/>
                    <a:lumOff val="40000"/>
                  </a:schemeClr>
                </a:solidFill>
                <a:latin typeface="Consolas" panose="020B0609020204030204" pitchFamily="49" charset="0"/>
                <a:cs typeface="Consolas" panose="020B0609020204030204" pitchFamily="49" charset="0"/>
              </a:rPr>
              <a:t> </a:t>
            </a:r>
            <a:r>
              <a:rPr lang="en-US" sz="1400" dirty="0">
                <a:latin typeface="Consolas" panose="020B0609020204030204" pitchFamily="49" charset="0"/>
                <a:cs typeface="Consolas" panose="020B0609020204030204" pitchFamily="49" charset="0"/>
              </a:rPr>
              <a:t>v1.0 </a:t>
            </a:r>
            <a:r>
              <a:rPr lang="en-US" sz="1400" dirty="0">
                <a:solidFill>
                  <a:schemeClr val="tx1"/>
                </a:solidFill>
                <a:latin typeface="Consolas" panose="020B0609020204030204" pitchFamily="49" charset="0"/>
                <a:cs typeface="Consolas" panose="020B0609020204030204" pitchFamily="49" charset="0"/>
              </a:rPr>
              <a:t>–m</a:t>
            </a:r>
            <a:r>
              <a:rPr lang="en-US" sz="1400" dirty="0">
                <a:latin typeface="Consolas" panose="020B0609020204030204" pitchFamily="49" charset="0"/>
                <a:cs typeface="Consolas" panose="020B0609020204030204" pitchFamily="49" charset="0"/>
              </a:rPr>
              <a:t> </a:t>
            </a:r>
            <a:r>
              <a:rPr lang="en-US" sz="1400" dirty="0">
                <a:solidFill>
                  <a:schemeClr val="accent6">
                    <a:lumMod val="75000"/>
                  </a:schemeClr>
                </a:solidFill>
                <a:latin typeface="Consolas" panose="020B0609020204030204" pitchFamily="49" charset="0"/>
                <a:cs typeface="Consolas" panose="020B0609020204030204" pitchFamily="49" charset="0"/>
              </a:rPr>
              <a:t>“my version 1.4”</a:t>
            </a:r>
            <a:endParaRPr lang="en-PS" sz="1400" dirty="0">
              <a:solidFill>
                <a:schemeClr val="accent6">
                  <a:lumMod val="75000"/>
                </a:schemeClr>
              </a:solidFill>
              <a:latin typeface="Consolas" panose="020B0609020204030204" pitchFamily="49" charset="0"/>
              <a:cs typeface="Consolas" panose="020B0609020204030204" pitchFamily="49" charset="0"/>
            </a:endParaRPr>
          </a:p>
        </p:txBody>
      </p:sp>
      <p:sp>
        <p:nvSpPr>
          <p:cNvPr id="6" name="Rounded Rectangle 5">
            <a:extLst>
              <a:ext uri="{FF2B5EF4-FFF2-40B4-BE49-F238E27FC236}">
                <a16:creationId xmlns:a16="http://schemas.microsoft.com/office/drawing/2014/main" id="{517227E3-9288-E0ED-7C54-E5ACD6A81D35}"/>
              </a:ext>
            </a:extLst>
          </p:cNvPr>
          <p:cNvSpPr/>
          <p:nvPr/>
        </p:nvSpPr>
        <p:spPr>
          <a:xfrm>
            <a:off x="779464" y="5467947"/>
            <a:ext cx="4354398" cy="1108087"/>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tag</a:t>
            </a:r>
          </a:p>
          <a:p>
            <a:endParaRPr lang="en-PS" sz="1400" dirty="0">
              <a:solidFill>
                <a:schemeClr val="tx1"/>
              </a:solidFill>
              <a:latin typeface="Consolas" panose="020B0609020204030204" pitchFamily="49" charset="0"/>
              <a:cs typeface="Consolas" panose="020B0609020204030204" pitchFamily="49" charset="0"/>
            </a:endParaRPr>
          </a:p>
          <a:p>
            <a:r>
              <a:rPr lang="en-US" sz="1400" dirty="0">
                <a:solidFill>
                  <a:schemeClr val="tx1"/>
                </a:solidFill>
                <a:latin typeface="Consolas" panose="020B0609020204030204" pitchFamily="49" charset="0"/>
                <a:cs typeface="Consolas" panose="020B0609020204030204" pitchFamily="49" charset="0"/>
              </a:rPr>
              <a:t>V</a:t>
            </a:r>
            <a:r>
              <a:rPr lang="en-PS" sz="1400" dirty="0">
                <a:solidFill>
                  <a:schemeClr val="tx1"/>
                </a:solidFill>
                <a:latin typeface="Consolas" panose="020B0609020204030204" pitchFamily="49" charset="0"/>
                <a:cs typeface="Consolas" panose="020B0609020204030204" pitchFamily="49" charset="0"/>
              </a:rPr>
              <a:t>1.0</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p:txBody>
      </p:sp>
      <p:sp>
        <p:nvSpPr>
          <p:cNvPr id="9" name="TextBox 8">
            <a:extLst>
              <a:ext uri="{FF2B5EF4-FFF2-40B4-BE49-F238E27FC236}">
                <a16:creationId xmlns:a16="http://schemas.microsoft.com/office/drawing/2014/main" id="{9F7CB4E0-1A10-7A1B-F1AC-0BE737708219}"/>
              </a:ext>
            </a:extLst>
          </p:cNvPr>
          <p:cNvSpPr txBox="1"/>
          <p:nvPr/>
        </p:nvSpPr>
        <p:spPr>
          <a:xfrm>
            <a:off x="779464" y="3260726"/>
            <a:ext cx="4354398" cy="369332"/>
          </a:xfrm>
          <a:prstGeom prst="rect">
            <a:avLst/>
          </a:prstGeom>
          <a:noFill/>
        </p:spPr>
        <p:txBody>
          <a:bodyPr wrap="square">
            <a:spAutoFit/>
          </a:bodyPr>
          <a:lstStyle/>
          <a:p>
            <a:r>
              <a:rPr lang="en-PS" b="1" dirty="0"/>
              <a:t>Creating Tag:</a:t>
            </a:r>
          </a:p>
        </p:txBody>
      </p:sp>
      <p:sp>
        <p:nvSpPr>
          <p:cNvPr id="10" name="TextBox 9">
            <a:extLst>
              <a:ext uri="{FF2B5EF4-FFF2-40B4-BE49-F238E27FC236}">
                <a16:creationId xmlns:a16="http://schemas.microsoft.com/office/drawing/2014/main" id="{16094984-0D63-B68B-1202-6581D114CB1D}"/>
              </a:ext>
            </a:extLst>
          </p:cNvPr>
          <p:cNvSpPr txBox="1"/>
          <p:nvPr/>
        </p:nvSpPr>
        <p:spPr>
          <a:xfrm>
            <a:off x="779464" y="4938115"/>
            <a:ext cx="4354398" cy="369332"/>
          </a:xfrm>
          <a:prstGeom prst="rect">
            <a:avLst/>
          </a:prstGeom>
          <a:noFill/>
        </p:spPr>
        <p:txBody>
          <a:bodyPr wrap="square">
            <a:spAutoFit/>
          </a:bodyPr>
          <a:lstStyle/>
          <a:p>
            <a:r>
              <a:rPr lang="en-PS" b="1" dirty="0"/>
              <a:t>listing Tags:</a:t>
            </a:r>
          </a:p>
        </p:txBody>
      </p:sp>
      <p:sp>
        <p:nvSpPr>
          <p:cNvPr id="11" name="Rounded Rectangle 10">
            <a:extLst>
              <a:ext uri="{FF2B5EF4-FFF2-40B4-BE49-F238E27FC236}">
                <a16:creationId xmlns:a16="http://schemas.microsoft.com/office/drawing/2014/main" id="{F532F809-4B17-EE00-5C80-5B305FA81CDA}"/>
              </a:ext>
            </a:extLst>
          </p:cNvPr>
          <p:cNvSpPr/>
          <p:nvPr/>
        </p:nvSpPr>
        <p:spPr>
          <a:xfrm>
            <a:off x="6096000" y="3630058"/>
            <a:ext cx="4354398" cy="765672"/>
          </a:xfrm>
          <a:prstGeom prst="roundRect">
            <a:avLst/>
          </a:prstGeom>
          <a:solidFill>
            <a:schemeClr val="bg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PS" sz="1000" dirty="0">
                <a:solidFill>
                  <a:schemeClr val="bg1"/>
                </a:solidFill>
                <a:latin typeface="Consolas" panose="020B0609020204030204" pitchFamily="49" charset="0"/>
                <a:cs typeface="Consolas" panose="020B0609020204030204" pitchFamily="49" charset="0"/>
              </a:rPr>
              <a:t>&lt;/&gt; Bash</a:t>
            </a:r>
          </a:p>
          <a:p>
            <a:endParaRPr lang="en-PS" sz="1000" dirty="0">
              <a:solidFill>
                <a:schemeClr val="bg1"/>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 git </a:t>
            </a:r>
            <a:r>
              <a:rPr lang="en-PS" sz="1400" dirty="0">
                <a:solidFill>
                  <a:schemeClr val="tx1"/>
                </a:solidFill>
                <a:latin typeface="Consolas" panose="020B0609020204030204" pitchFamily="49" charset="0"/>
                <a:cs typeface="Consolas" panose="020B0609020204030204" pitchFamily="49" charset="0"/>
              </a:rPr>
              <a:t>tag</a:t>
            </a:r>
            <a:r>
              <a:rPr lang="en-PS" sz="1400" dirty="0">
                <a:solidFill>
                  <a:schemeClr val="accent4">
                    <a:lumMod val="60000"/>
                    <a:lumOff val="40000"/>
                  </a:schemeClr>
                </a:solidFill>
                <a:latin typeface="Consolas" panose="020B0609020204030204" pitchFamily="49" charset="0"/>
                <a:cs typeface="Consolas" panose="020B0609020204030204" pitchFamily="49" charset="0"/>
              </a:rPr>
              <a:t> –d </a:t>
            </a:r>
            <a:r>
              <a:rPr lang="en-US" sz="1400" dirty="0">
                <a:latin typeface="Consolas" panose="020B0609020204030204" pitchFamily="49" charset="0"/>
                <a:cs typeface="Consolas" panose="020B0609020204030204" pitchFamily="49" charset="0"/>
              </a:rPr>
              <a:t>v1.0</a:t>
            </a:r>
          </a:p>
        </p:txBody>
      </p:sp>
      <p:sp>
        <p:nvSpPr>
          <p:cNvPr id="12" name="TextBox 11">
            <a:extLst>
              <a:ext uri="{FF2B5EF4-FFF2-40B4-BE49-F238E27FC236}">
                <a16:creationId xmlns:a16="http://schemas.microsoft.com/office/drawing/2014/main" id="{61727676-0549-57C1-56D9-8D11DC675EE4}"/>
              </a:ext>
            </a:extLst>
          </p:cNvPr>
          <p:cNvSpPr txBox="1"/>
          <p:nvPr/>
        </p:nvSpPr>
        <p:spPr>
          <a:xfrm>
            <a:off x="6096000" y="3167089"/>
            <a:ext cx="4354398" cy="369332"/>
          </a:xfrm>
          <a:prstGeom prst="rect">
            <a:avLst/>
          </a:prstGeom>
          <a:noFill/>
        </p:spPr>
        <p:txBody>
          <a:bodyPr wrap="square">
            <a:spAutoFit/>
          </a:bodyPr>
          <a:lstStyle/>
          <a:p>
            <a:r>
              <a:rPr lang="en-PS" b="1" dirty="0"/>
              <a:t>Deleting Tag:</a:t>
            </a:r>
          </a:p>
        </p:txBody>
      </p:sp>
    </p:spTree>
    <p:extLst>
      <p:ext uri="{BB962C8B-B14F-4D97-AF65-F5344CB8AC3E}">
        <p14:creationId xmlns:p14="http://schemas.microsoft.com/office/powerpoint/2010/main" val="348649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6CD95FE-4DEF-1185-892E-AD9EEA2071BC}"/>
              </a:ext>
            </a:extLst>
          </p:cNvPr>
          <p:cNvSpPr/>
          <p:nvPr/>
        </p:nvSpPr>
        <p:spPr>
          <a:xfrm>
            <a:off x="0" y="0"/>
            <a:ext cx="12192000" cy="1143000"/>
          </a:xfrm>
          <a:prstGeom prst="rect">
            <a:avLst/>
          </a:prstGeom>
          <a:solidFill>
            <a:srgbClr val="1D3A67"/>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4400" b="1" dirty="0"/>
              <a:t>Author</a:t>
            </a:r>
            <a:endParaRPr lang="en-PS" sz="4400" b="1" dirty="0"/>
          </a:p>
        </p:txBody>
      </p:sp>
      <p:pic>
        <p:nvPicPr>
          <p:cNvPr id="5" name="Google Shape;62;g37d8b7104ca_0_153">
            <a:extLst>
              <a:ext uri="{FF2B5EF4-FFF2-40B4-BE49-F238E27FC236}">
                <a16:creationId xmlns:a16="http://schemas.microsoft.com/office/drawing/2014/main" id="{704F6E25-9E0B-BFD5-D338-74BFEC66D00D}"/>
              </a:ext>
            </a:extLst>
          </p:cNvPr>
          <p:cNvPicPr preferRelativeResize="0"/>
          <p:nvPr/>
        </p:nvPicPr>
        <p:blipFill>
          <a:blip r:embed="rId3">
            <a:alphaModFix/>
          </a:blip>
          <a:stretch>
            <a:fillRect/>
          </a:stretch>
        </p:blipFill>
        <p:spPr>
          <a:xfrm>
            <a:off x="11368469" y="6021991"/>
            <a:ext cx="914400" cy="914400"/>
          </a:xfrm>
          <a:prstGeom prst="rect">
            <a:avLst/>
          </a:prstGeom>
          <a:noFill/>
          <a:ln>
            <a:noFill/>
          </a:ln>
        </p:spPr>
      </p:pic>
      <p:sp>
        <p:nvSpPr>
          <p:cNvPr id="7" name="TextBox 6">
            <a:extLst>
              <a:ext uri="{FF2B5EF4-FFF2-40B4-BE49-F238E27FC236}">
                <a16:creationId xmlns:a16="http://schemas.microsoft.com/office/drawing/2014/main" id="{3A7DD5DF-9F59-BCF2-B149-B3967BC4D0B1}"/>
              </a:ext>
            </a:extLst>
          </p:cNvPr>
          <p:cNvSpPr txBox="1"/>
          <p:nvPr/>
        </p:nvSpPr>
        <p:spPr>
          <a:xfrm>
            <a:off x="286035" y="1723506"/>
            <a:ext cx="4538422" cy="769441"/>
          </a:xfrm>
          <a:prstGeom prst="rect">
            <a:avLst/>
          </a:prstGeom>
          <a:noFill/>
        </p:spPr>
        <p:txBody>
          <a:bodyPr wrap="none" rtlCol="0">
            <a:spAutoFit/>
          </a:bodyPr>
          <a:lstStyle/>
          <a:p>
            <a:r>
              <a:rPr lang="en-PS" sz="4400" b="1" dirty="0">
                <a:solidFill>
                  <a:srgbClr val="1D3A67"/>
                </a:solidFill>
                <a:latin typeface="Consolas" panose="020B0609020204030204" pitchFamily="49" charset="0"/>
                <a:cs typeface="Consolas" panose="020B0609020204030204" pitchFamily="49" charset="0"/>
              </a:rPr>
              <a:t>Amjad Ataallah</a:t>
            </a:r>
          </a:p>
        </p:txBody>
      </p:sp>
      <p:sp>
        <p:nvSpPr>
          <p:cNvPr id="13" name="TextBox 12">
            <a:extLst>
              <a:ext uri="{FF2B5EF4-FFF2-40B4-BE49-F238E27FC236}">
                <a16:creationId xmlns:a16="http://schemas.microsoft.com/office/drawing/2014/main" id="{A55CF72C-3FB7-A6EE-C838-6E1249427A72}"/>
              </a:ext>
            </a:extLst>
          </p:cNvPr>
          <p:cNvSpPr txBox="1"/>
          <p:nvPr/>
        </p:nvSpPr>
        <p:spPr>
          <a:xfrm>
            <a:off x="286035" y="2864641"/>
            <a:ext cx="4955038" cy="738664"/>
          </a:xfrm>
          <a:prstGeom prst="rect">
            <a:avLst/>
          </a:prstGeom>
          <a:noFill/>
        </p:spPr>
        <p:txBody>
          <a:bodyPr wrap="square">
            <a:spAutoFit/>
          </a:bodyPr>
          <a:lstStyle/>
          <a:p>
            <a:r>
              <a:rPr lang="en-PS" sz="1400" dirty="0">
                <a:solidFill>
                  <a:srgbClr val="7030A0"/>
                </a:solidFill>
                <a:latin typeface="Consolas" panose="020B0609020204030204" pitchFamily="49" charset="0"/>
                <a:cs typeface="Consolas" panose="020B0609020204030204" pitchFamily="49" charset="0"/>
              </a:rPr>
              <a:t>Email:	   </a:t>
            </a:r>
            <a:r>
              <a:rPr lang="en-PS" sz="1400" dirty="0">
                <a:solidFill>
                  <a:schemeClr val="accent4">
                    <a:lumMod val="60000"/>
                    <a:lumOff val="40000"/>
                  </a:schemeClr>
                </a:solidFill>
                <a:latin typeface="Consolas" panose="020B0609020204030204" pitchFamily="49" charset="0"/>
                <a:cs typeface="Consolas" panose="020B0609020204030204" pitchFamily="49" charset="0"/>
                <a:hlinkClick r:id="rId4"/>
              </a:rPr>
              <a:t>amjad.atallah@najah.edu</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Linkedin: </a:t>
            </a:r>
            <a:r>
              <a:rPr lang="en-US" sz="1400" dirty="0">
                <a:solidFill>
                  <a:schemeClr val="accent4">
                    <a:lumMod val="60000"/>
                    <a:lumOff val="40000"/>
                  </a:schemeClr>
                </a:solidFill>
                <a:latin typeface="Consolas" panose="020B0609020204030204" pitchFamily="49" charset="0"/>
                <a:cs typeface="Consolas" panose="020B0609020204030204" pitchFamily="49" charset="0"/>
                <a:hlinkClick r:id="rId5"/>
              </a:rPr>
              <a:t>https://www.linkedin.com/in/ataallah/</a:t>
            </a:r>
            <a:r>
              <a:rPr lang="en-US" sz="1400" dirty="0">
                <a:solidFill>
                  <a:schemeClr val="accent4">
                    <a:lumMod val="60000"/>
                    <a:lumOff val="40000"/>
                  </a:schemeClr>
                </a:solidFill>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Website:  </a:t>
            </a:r>
            <a:r>
              <a:rPr lang="en-US" sz="1400" dirty="0">
                <a:solidFill>
                  <a:schemeClr val="accent4">
                    <a:lumMod val="60000"/>
                    <a:lumOff val="40000"/>
                  </a:schemeClr>
                </a:solidFill>
                <a:latin typeface="Consolas" panose="020B0609020204030204" pitchFamily="49" charset="0"/>
                <a:cs typeface="Consolas" panose="020B0609020204030204" pitchFamily="49" charset="0"/>
                <a:hlinkClick r:id="rId6"/>
              </a:rPr>
              <a:t>https://amjadataallah.github.io</a:t>
            </a:r>
            <a:r>
              <a:rPr lang="en-US" sz="1400" dirty="0">
                <a:solidFill>
                  <a:schemeClr val="accent4">
                    <a:lumMod val="60000"/>
                    <a:lumOff val="40000"/>
                  </a:schemeClr>
                </a:solidFill>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pic>
        <p:nvPicPr>
          <p:cNvPr id="19" name="Picture 18">
            <a:extLst>
              <a:ext uri="{FF2B5EF4-FFF2-40B4-BE49-F238E27FC236}">
                <a16:creationId xmlns:a16="http://schemas.microsoft.com/office/drawing/2014/main" id="{9EFBA8F8-CE3F-F45F-0F75-69EEA19422E9}"/>
              </a:ext>
            </a:extLst>
          </p:cNvPr>
          <p:cNvPicPr>
            <a:picLocks noChangeAspect="1"/>
          </p:cNvPicPr>
          <p:nvPr/>
        </p:nvPicPr>
        <p:blipFill>
          <a:blip r:embed="rId7"/>
          <a:stretch>
            <a:fillRect/>
          </a:stretch>
        </p:blipFill>
        <p:spPr>
          <a:xfrm>
            <a:off x="1401247" y="3864079"/>
            <a:ext cx="2425542" cy="2425542"/>
          </a:xfrm>
          <a:prstGeom prst="rect">
            <a:avLst/>
          </a:prstGeom>
        </p:spPr>
      </p:pic>
      <p:sp>
        <p:nvSpPr>
          <p:cNvPr id="2" name="TextBox 1">
            <a:extLst>
              <a:ext uri="{FF2B5EF4-FFF2-40B4-BE49-F238E27FC236}">
                <a16:creationId xmlns:a16="http://schemas.microsoft.com/office/drawing/2014/main" id="{B2D36CDB-5C32-B57C-A8E9-CDA8BCD7D73D}"/>
              </a:ext>
            </a:extLst>
          </p:cNvPr>
          <p:cNvSpPr txBox="1"/>
          <p:nvPr/>
        </p:nvSpPr>
        <p:spPr>
          <a:xfrm>
            <a:off x="7278240" y="1723506"/>
            <a:ext cx="3916457" cy="769441"/>
          </a:xfrm>
          <a:prstGeom prst="rect">
            <a:avLst/>
          </a:prstGeom>
          <a:noFill/>
        </p:spPr>
        <p:txBody>
          <a:bodyPr wrap="none" rtlCol="0">
            <a:spAutoFit/>
          </a:bodyPr>
          <a:lstStyle/>
          <a:p>
            <a:r>
              <a:rPr lang="en-PS" sz="4400" b="1" dirty="0">
                <a:solidFill>
                  <a:srgbClr val="1D3A67"/>
                </a:solidFill>
                <a:latin typeface="Consolas" panose="020B0609020204030204" pitchFamily="49" charset="0"/>
                <a:cs typeface="Consolas" panose="020B0609020204030204" pitchFamily="49" charset="0"/>
              </a:rPr>
              <a:t>Yanal Sweseh</a:t>
            </a:r>
          </a:p>
        </p:txBody>
      </p:sp>
      <p:sp>
        <p:nvSpPr>
          <p:cNvPr id="3" name="TextBox 2">
            <a:extLst>
              <a:ext uri="{FF2B5EF4-FFF2-40B4-BE49-F238E27FC236}">
                <a16:creationId xmlns:a16="http://schemas.microsoft.com/office/drawing/2014/main" id="{374D5E81-CE64-C0F8-AFB9-F286942C1D1E}"/>
              </a:ext>
            </a:extLst>
          </p:cNvPr>
          <p:cNvSpPr txBox="1"/>
          <p:nvPr/>
        </p:nvSpPr>
        <p:spPr>
          <a:xfrm>
            <a:off x="6746488" y="2864641"/>
            <a:ext cx="5286068" cy="738664"/>
          </a:xfrm>
          <a:prstGeom prst="rect">
            <a:avLst/>
          </a:prstGeom>
          <a:noFill/>
        </p:spPr>
        <p:txBody>
          <a:bodyPr wrap="square">
            <a:spAutoFit/>
          </a:bodyPr>
          <a:lstStyle/>
          <a:p>
            <a:r>
              <a:rPr lang="en-PS" sz="1400" dirty="0">
                <a:solidFill>
                  <a:srgbClr val="7030A0"/>
                </a:solidFill>
                <a:latin typeface="Consolas" panose="020B0609020204030204" pitchFamily="49" charset="0"/>
                <a:cs typeface="Consolas" panose="020B0609020204030204" pitchFamily="49" charset="0"/>
              </a:rPr>
              <a:t>Email:	 </a:t>
            </a:r>
            <a:r>
              <a:rPr lang="en-US" sz="1400" b="0" i="0" u="sng" dirty="0">
                <a:solidFill>
                  <a:srgbClr val="FFFFFF"/>
                </a:solidFill>
                <a:effectLst/>
                <a:latin typeface="Emoji"/>
                <a:hlinkClick r:id="rId8"/>
              </a:rPr>
              <a:t>yanal.swaseh@najah.edu</a:t>
            </a:r>
            <a:r>
              <a:rPr lang="en-US" sz="1400" b="0" i="0" u="sng" dirty="0">
                <a:solidFill>
                  <a:srgbClr val="FFFFFF"/>
                </a:solidFill>
                <a:effectLst/>
                <a:latin typeface="Emoji"/>
              </a:rPr>
              <a:t> </a:t>
            </a:r>
            <a:endParaRPr lang="en-PS" sz="1400" dirty="0">
              <a:solidFill>
                <a:schemeClr val="accent4">
                  <a:lumMod val="60000"/>
                  <a:lumOff val="40000"/>
                </a:schemeClr>
              </a:solidFill>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Linkedin:	 </a:t>
            </a:r>
            <a:r>
              <a:rPr lang="en-US" sz="1400" dirty="0">
                <a:solidFill>
                  <a:srgbClr val="7030A0"/>
                </a:solidFill>
                <a:latin typeface="Consolas" panose="020B0609020204030204" pitchFamily="49" charset="0"/>
                <a:cs typeface="Consolas" panose="020B0609020204030204" pitchFamily="49" charset="0"/>
                <a:hlinkClick r:id="rId9"/>
              </a:rPr>
              <a:t>https://www.linkedin.com/in/yanalsweseh/</a:t>
            </a:r>
            <a:r>
              <a:rPr lang="en-US" sz="1400" dirty="0">
                <a:solidFill>
                  <a:srgbClr val="7030A0"/>
                </a:solidFill>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a:p>
            <a:r>
              <a:rPr lang="en-PS" sz="1400" dirty="0">
                <a:solidFill>
                  <a:srgbClr val="7030A0"/>
                </a:solidFill>
                <a:latin typeface="Consolas" panose="020B0609020204030204" pitchFamily="49" charset="0"/>
                <a:cs typeface="Consolas" panose="020B0609020204030204" pitchFamily="49" charset="0"/>
              </a:rPr>
              <a:t>Website:	 </a:t>
            </a:r>
            <a:r>
              <a:rPr lang="en-US" sz="1400" dirty="0">
                <a:solidFill>
                  <a:srgbClr val="7030A0"/>
                </a:solidFill>
                <a:latin typeface="Consolas" panose="020B0609020204030204" pitchFamily="49" charset="0"/>
                <a:cs typeface="Consolas" panose="020B0609020204030204" pitchFamily="49" charset="0"/>
                <a:hlinkClick r:id="rId10"/>
              </a:rPr>
              <a:t>https://github.com/yswesieh</a:t>
            </a:r>
            <a:r>
              <a:rPr lang="en-US" sz="1400" dirty="0">
                <a:solidFill>
                  <a:srgbClr val="7030A0"/>
                </a:solidFill>
                <a:latin typeface="Consolas" panose="020B0609020204030204" pitchFamily="49" charset="0"/>
                <a:cs typeface="Consolas" panose="020B0609020204030204" pitchFamily="49" charset="0"/>
              </a:rPr>
              <a:t> </a:t>
            </a:r>
            <a:endParaRPr lang="en-US" sz="1400" dirty="0">
              <a:latin typeface="Consolas" panose="020B0609020204030204" pitchFamily="49" charset="0"/>
              <a:cs typeface="Consolas" panose="020B0609020204030204" pitchFamily="49" charset="0"/>
            </a:endParaRPr>
          </a:p>
        </p:txBody>
      </p:sp>
      <p:pic>
        <p:nvPicPr>
          <p:cNvPr id="9" name="Picture 8">
            <a:extLst>
              <a:ext uri="{FF2B5EF4-FFF2-40B4-BE49-F238E27FC236}">
                <a16:creationId xmlns:a16="http://schemas.microsoft.com/office/drawing/2014/main" id="{13D2BC4F-855E-1FCE-1F10-C5FEFD0A246C}"/>
              </a:ext>
            </a:extLst>
          </p:cNvPr>
          <p:cNvPicPr>
            <a:picLocks noChangeAspect="1"/>
          </p:cNvPicPr>
          <p:nvPr/>
        </p:nvPicPr>
        <p:blipFill>
          <a:blip r:embed="rId11"/>
          <a:stretch>
            <a:fillRect/>
          </a:stretch>
        </p:blipFill>
        <p:spPr>
          <a:xfrm>
            <a:off x="7813198" y="3745792"/>
            <a:ext cx="2425543" cy="2425543"/>
          </a:xfrm>
          <a:prstGeom prst="rect">
            <a:avLst/>
          </a:prstGeom>
        </p:spPr>
      </p:pic>
    </p:spTree>
    <p:extLst>
      <p:ext uri="{BB962C8B-B14F-4D97-AF65-F5344CB8AC3E}">
        <p14:creationId xmlns:p14="http://schemas.microsoft.com/office/powerpoint/2010/main" val="32414712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1321</TotalTime>
  <Words>1397</Words>
  <Application>Microsoft Macintosh PowerPoint</Application>
  <PresentationFormat>Widescreen</PresentationFormat>
  <Paragraphs>218</Paragraphs>
  <Slides>18</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-webkit-standard</vt:lpstr>
      <vt:lpstr>Arial</vt:lpstr>
      <vt:lpstr>Calibri</vt:lpstr>
      <vt:lpstr>Calibri Light</vt:lpstr>
      <vt:lpstr>Consolas</vt:lpstr>
      <vt:lpstr>Emoji</vt:lpstr>
      <vt:lpstr>Roboto Mono</vt:lpstr>
      <vt:lpstr>Segoe UI</vt:lpstr>
      <vt:lpstr>Office Theme</vt:lpstr>
      <vt:lpstr>Team Project 1 - CAP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Project 1 - CAP</dc:title>
  <dc:creator>Amjad Ata-Allah</dc:creator>
  <cp:lastModifiedBy>Amjad Ata-Allah</cp:lastModifiedBy>
  <cp:revision>11</cp:revision>
  <dcterms:created xsi:type="dcterms:W3CDTF">2026-09-11T18:57:39Z</dcterms:created>
  <dcterms:modified xsi:type="dcterms:W3CDTF">2026-09-13T18:14:52Z</dcterms:modified>
</cp:coreProperties>
</file>